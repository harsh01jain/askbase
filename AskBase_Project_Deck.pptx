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Hand-offs</c:v>
                </c:pt>
              </c:strCache>
            </c:strRef>
          </c:tx>
          <c:dPt>
            <c:idx val="0"/>
            <c:spPr>
              <a:solidFill>
                <a:srgbClr val="ECEEF2"/>
              </a:solidFill>
              <a:ln>
                <a:noFill/>
              </a:ln>
            </c:spPr>
          </c:dPt>
          <c:dPt>
            <c:idx val="1"/>
            <c:spPr>
              <a:solidFill>
                <a:srgbClr val="4338CA"/>
              </a:solidFill>
              <a:ln>
                <a:noFill/>
              </a:ln>
            </c:spPr>
          </c:dPt>
          <c:cat>
            <c:strRef>
              <c:f>Sheet1!$A$2:$A$3</c:f>
              <c:strCache>
                <c:ptCount val="2"/>
                <c:pt idx="0">
                  <c:v>Traditional</c:v>
                </c:pt>
                <c:pt idx="1">
                  <c:v>AskBase</c:v>
                </c:pt>
              </c:strCache>
            </c:strRef>
          </c:cat>
          <c:val>
            <c:numRef>
              <c:f>Sheet1!$B$2:$B$3</c:f>
              <c:numCache>
                <c:formatCode>General</c:formatCode>
                <c:ptCount val="2"/>
                <c:pt idx="0">
                  <c:v>4</c:v>
                </c:pt>
                <c:pt idx="1">
                  <c:v>1</c:v>
                </c:pt>
              </c:numCache>
            </c:numRef>
          </c:val>
        </c:ser>
        <c:dLbls>
          <c:numFmt formatCode="0" sourceLinked="0"/>
          <c:txPr>
            <a:bodyPr/>
            <a:lstStyle/>
            <a:p>
              <a:pPr>
                <a:defRPr sz="1050" b="1">
                  <a:solidFill>
                    <a:srgbClr val="0B0F19"/>
                  </a:solidFill>
                  <a:latin typeface="Calibri"/>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none"/>
        <c:minorTickMark val="none"/>
        <c:tickLblPos val="nextTo"/>
        <c:spPr>
          <a:ln>
            <a:solidFill>
              <a:srgbClr val="E4E7EB"/>
            </a:solidFill>
          </a:ln>
        </c:spPr>
        <c:txPr>
          <a:bodyPr/>
          <a:lstStyle/>
          <a:p>
            <a:pPr>
              <a:defRPr sz="1050">
                <a:solidFill>
                  <a:srgbClr val="4B5563"/>
                </a:solidFill>
                <a:latin typeface="Calibri"/>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Rows</c:v>
                </c:pt>
              </c:strCache>
            </c:strRef>
          </c:tx>
          <c:dPt>
            <c:idx val="0"/>
            <c:spPr>
              <a:solidFill>
                <a:srgbClr val="4338CA"/>
              </a:solidFill>
              <a:ln>
                <a:noFill/>
              </a:ln>
            </c:spPr>
          </c:dPt>
          <c:dPt>
            <c:idx val="1"/>
            <c:spPr>
              <a:solidFill>
                <a:srgbClr val="4338CA"/>
              </a:solidFill>
              <a:ln>
                <a:noFill/>
              </a:ln>
            </c:spPr>
          </c:dPt>
          <c:dPt>
            <c:idx val="2"/>
            <c:spPr>
              <a:solidFill>
                <a:srgbClr val="4338CA"/>
              </a:solidFill>
              <a:ln>
                <a:noFill/>
              </a:ln>
            </c:spPr>
          </c:dPt>
          <c:dPt>
            <c:idx val="3"/>
            <c:spPr>
              <a:solidFill>
                <a:srgbClr val="4338CA"/>
              </a:solidFill>
              <a:ln>
                <a:noFill/>
              </a:ln>
            </c:spPr>
          </c:dPt>
          <c:cat>
            <c:strRef>
              <c:f>Sheet1!$A$2:$A$5</c:f>
              <c:strCache>
                <c:ptCount val="4"/>
                <c:pt idx="0">
                  <c:v>Order items</c:v>
                </c:pt>
                <c:pt idx="1">
                  <c:v>Orders</c:v>
                </c:pt>
                <c:pt idx="2">
                  <c:v>Customers</c:v>
                </c:pt>
                <c:pt idx="3">
                  <c:v>Products</c:v>
                </c:pt>
              </c:strCache>
            </c:strRef>
          </c:cat>
          <c:val>
            <c:numRef>
              <c:f>Sheet1!$B$2:$B$5</c:f>
              <c:numCache>
                <c:formatCode>General</c:formatCode>
                <c:ptCount val="4"/>
                <c:pt idx="0">
                  <c:v>15000</c:v>
                </c:pt>
                <c:pt idx="1">
                  <c:v>5000</c:v>
                </c:pt>
                <c:pt idx="2">
                  <c:v>1000</c:v>
                </c:pt>
                <c:pt idx="3">
                  <c:v>50</c:v>
                </c:pt>
              </c:numCache>
            </c:numRef>
          </c:val>
        </c:ser>
        <c:dLbls>
          <c:numFmt formatCode="#,##0" sourceLinked="0"/>
          <c:txPr>
            <a:bodyPr/>
            <a:lstStyle/>
            <a:p>
              <a:pPr>
                <a:defRPr sz="1050" b="1">
                  <a:solidFill>
                    <a:srgbClr val="0B0F19"/>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none"/>
        <c:minorTickMark val="none"/>
        <c:tickLblPos val="nextTo"/>
        <c:spPr>
          <a:ln>
            <a:solidFill>
              <a:srgbClr val="E4E7EB"/>
            </a:solidFill>
          </a:ln>
        </c:spPr>
        <c:txPr>
          <a:bodyPr/>
          <a:lstStyle/>
          <a:p>
            <a:pPr>
              <a:defRPr sz="1050">
                <a:solidFill>
                  <a:srgbClr val="4B5563"/>
                </a:solidFill>
                <a:latin typeface="Calibr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one-liner: AskBase turns a plain-English question into a validated SQL query and an answer, with every part of the system running on the local machine. Point at the strip along the bottom - that is the whole product in five steps, and the rest of the deck expands it. Say the deck covers the need, the build, the challenges and the roadmap, then move on quickly; do not linger on the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need as a queue problem, not a technology problem. The left column is the status quo: four hand-offs between the question and the answer, so exploratory questions never get asked. The right column collapses that to one. Read the four chips at the bottom as the pain points the project targets, and flag the last one - privacy - because it is the reason a cloud tool was not an option.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elevator pitch in one picture. Walk the pipeline left to right once, naming only the stages - detail comes two slides later. Then land on the three cards: private, simple, safe. If time is short on the day, this is the slide to spend an extra twenty seconds on, because it is the whole value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bands, top to bottom: the browser UI, the FastAPI service that orchestrates everything, and the three local services it talks to. The only line worth dwelling on is the arrow underneath the backend pipeline - that is the self-correction loop. Stress that nothing in this diagram leaves the machine; there is no cloud box anywhere.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engineering slide, so give it the most time. Walk the six numbered stages, reading the small technical value at the base of each card. Then trace the return arrow: when validation or execution fails, the exact database error is fed back into the prompt and the model tries again. Finish on the block at the bottom left - the loop is capped at three attempts so worst-case latency stays bounded.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down the six features quickly - the examiner can read them. Spend your words on the chart instead: this is the four-table demo warehouse the system was built and demonstrated against, roughly twenty-one thousand rows across customers, products, orders and order items. Mention the small chips as convenience features, not headline claims.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obvious objection: an LLM writing SQL against a production database. Walk the funnel downward - each band is an independent layer, and any one of them alone would stop a destructive query. Then point right: because inference and embeddings are local, there is no configuration mistake that can leak schema or data to a third party.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technical column first and keep each one to a sentence - problem, then fix. The practical column matters more to the marker: hardware limits shaped the model choice, and analyst trust shaped the interface. Land on the panel bottom right - the failure mode nobody catches automatically is a query that runs fine but answers the wrong question, which is exactly why the generated SQL is always visible.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and quick here - owning the limits scores better than hiding them. Read each limitation on the left and immediately give its counterpart on the right, so every gap has an answer. Call the evaluation harness the priority item, because accuracy is the one thing currently unmeasured. Close on the banner line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MSC DATA SCIENCE  ·  NMIMS  ·  2025</a:t>
            </a:r>
          </a:p>
        </p:txBody>
      </p:sp>
      <p:sp>
        <p:nvSpPr>
          <p:cNvPr id="4" name="TextBox 3"/>
          <p:cNvSpPr txBox="1"/>
          <p:nvPr/>
        </p:nvSpPr>
        <p:spPr>
          <a:xfrm>
            <a:off x="594360" y="1783080"/>
            <a:ext cx="8229600" cy="1143000"/>
          </a:xfrm>
          <a:prstGeom prst="rect">
            <a:avLst/>
          </a:prstGeom>
          <a:noFill/>
          <a:effectLst/>
        </p:spPr>
        <p:txBody>
          <a:bodyPr wrap="square" lIns="0" rIns="0" tIns="0" bIns="0" anchor="t">
            <a:spAutoFit/>
          </a:bodyPr>
          <a:lstStyle/>
          <a:p>
            <a:pPr algn="l"/>
            <a:r>
              <a:rPr sz="6600" b="1">
                <a:solidFill>
                  <a:srgbClr val="0B0F19"/>
                </a:solidFill>
                <a:latin typeface="Georgia"/>
              </a:rPr>
              <a:t>AskBase</a:t>
            </a:r>
          </a:p>
        </p:txBody>
      </p:sp>
      <p:sp>
        <p:nvSpPr>
          <p:cNvPr id="5" name="Rectangle 4"/>
          <p:cNvSpPr/>
          <p:nvPr/>
        </p:nvSpPr>
        <p:spPr>
          <a:xfrm>
            <a:off x="594360" y="3017520"/>
            <a:ext cx="2834640" cy="12801"/>
          </a:xfrm>
          <a:prstGeom prst="rect">
            <a:avLst/>
          </a:prstGeom>
          <a:solidFill>
            <a:srgbClr val="E4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310128"/>
            <a:ext cx="7680960" cy="365760"/>
          </a:xfrm>
          <a:prstGeom prst="rect">
            <a:avLst/>
          </a:prstGeom>
          <a:noFill/>
          <a:effectLst/>
        </p:spPr>
        <p:txBody>
          <a:bodyPr wrap="square" lIns="0" rIns="0" tIns="0" bIns="0" anchor="t">
            <a:spAutoFit/>
          </a:bodyPr>
          <a:lstStyle/>
          <a:p>
            <a:pPr algn="l"/>
            <a:r>
              <a:rPr sz="1650" b="0">
                <a:solidFill>
                  <a:srgbClr val="4B5563"/>
                </a:solidFill>
                <a:latin typeface="Calibri"/>
              </a:rPr>
              <a:t>Privacy-First Natural Language to SQL using Local LLMs</a:t>
            </a:r>
          </a:p>
        </p:txBody>
      </p:sp>
      <p:sp>
        <p:nvSpPr>
          <p:cNvPr id="7" name="TextBox 6"/>
          <p:cNvSpPr txBox="1"/>
          <p:nvPr/>
        </p:nvSpPr>
        <p:spPr>
          <a:xfrm>
            <a:off x="594360" y="3931920"/>
            <a:ext cx="5486400" cy="502920"/>
          </a:xfrm>
          <a:prstGeom prst="rect">
            <a:avLst/>
          </a:prstGeom>
          <a:noFill/>
          <a:effectLst/>
        </p:spPr>
        <p:txBody>
          <a:bodyPr wrap="square" lIns="0" rIns="0" tIns="0" bIns="0" anchor="t">
            <a:spAutoFit/>
          </a:bodyPr>
          <a:lstStyle/>
          <a:p>
            <a:pPr algn="l">
              <a:spcAft>
                <a:spcPts val="200"/>
              </a:spcAft>
            </a:pPr>
            <a:r>
              <a:rPr sz="1250" b="1">
                <a:solidFill>
                  <a:srgbClr val="0B0F19"/>
                </a:solidFill>
                <a:latin typeface="Calibri"/>
              </a:rPr>
              <a:t>Harsh Jain</a:t>
            </a:r>
          </a:p>
          <a:p>
            <a:pPr algn="l"/>
            <a:r>
              <a:rPr sz="1000" b="0">
                <a:solidFill>
                  <a:srgbClr val="9AA3AF"/>
                </a:solidFill>
                <a:latin typeface="Calibri"/>
              </a:rPr>
              <a:t>Project Presentation  ·  Application need, approach, challenges, roadmap</a:t>
            </a:r>
          </a:p>
        </p:txBody>
      </p:sp>
      <p:sp>
        <p:nvSpPr>
          <p:cNvPr id="8" name="Rounded Rectangle 7"/>
          <p:cNvSpPr/>
          <p:nvPr/>
        </p:nvSpPr>
        <p:spPr>
          <a:xfrm>
            <a:off x="594360" y="5074920"/>
            <a:ext cx="1937247" cy="658368"/>
          </a:xfrm>
          <a:prstGeom prst="roundRect">
            <a:avLst>
              <a:gd name="adj" fmla="val 5555"/>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1">
                <a:solidFill>
                  <a:srgbClr val="0B0F19"/>
                </a:solidFill>
                <a:latin typeface="Calibri"/>
              </a:rPr>
              <a:t>Natural Language</a:t>
            </a:r>
          </a:p>
        </p:txBody>
      </p:sp>
      <p:sp>
        <p:nvSpPr>
          <p:cNvPr id="9" name="TextBox 8"/>
          <p:cNvSpPr txBox="1"/>
          <p:nvPr/>
        </p:nvSpPr>
        <p:spPr>
          <a:xfrm>
            <a:off x="2531607" y="5074920"/>
            <a:ext cx="32918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0" name="Rounded Rectangle 9"/>
          <p:cNvSpPr/>
          <p:nvPr/>
        </p:nvSpPr>
        <p:spPr>
          <a:xfrm>
            <a:off x="2860791" y="5074920"/>
            <a:ext cx="1937247" cy="658368"/>
          </a:xfrm>
          <a:prstGeom prst="roundRect">
            <a:avLst>
              <a:gd name="adj" fmla="val 5555"/>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AI</a:t>
            </a:r>
          </a:p>
        </p:txBody>
      </p:sp>
      <p:sp>
        <p:nvSpPr>
          <p:cNvPr id="11" name="TextBox 10"/>
          <p:cNvSpPr txBox="1"/>
          <p:nvPr/>
        </p:nvSpPr>
        <p:spPr>
          <a:xfrm>
            <a:off x="4798039" y="5074920"/>
            <a:ext cx="32918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2" name="Rounded Rectangle 11"/>
          <p:cNvSpPr/>
          <p:nvPr/>
        </p:nvSpPr>
        <p:spPr>
          <a:xfrm>
            <a:off x="5127223" y="5074920"/>
            <a:ext cx="1937247" cy="658368"/>
          </a:xfrm>
          <a:prstGeom prst="roundRect">
            <a:avLst>
              <a:gd name="adj" fmla="val 5555"/>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SQL</a:t>
            </a:r>
          </a:p>
        </p:txBody>
      </p:sp>
      <p:sp>
        <p:nvSpPr>
          <p:cNvPr id="13" name="TextBox 12"/>
          <p:cNvSpPr txBox="1"/>
          <p:nvPr/>
        </p:nvSpPr>
        <p:spPr>
          <a:xfrm>
            <a:off x="7064471" y="5074920"/>
            <a:ext cx="32918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4" name="Rounded Rectangle 13"/>
          <p:cNvSpPr/>
          <p:nvPr/>
        </p:nvSpPr>
        <p:spPr>
          <a:xfrm>
            <a:off x="7393655" y="5074920"/>
            <a:ext cx="1937247" cy="658368"/>
          </a:xfrm>
          <a:prstGeom prst="roundRect">
            <a:avLst>
              <a:gd name="adj" fmla="val 5555"/>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Database</a:t>
            </a:r>
          </a:p>
        </p:txBody>
      </p:sp>
      <p:sp>
        <p:nvSpPr>
          <p:cNvPr id="15" name="TextBox 14"/>
          <p:cNvSpPr txBox="1"/>
          <p:nvPr/>
        </p:nvSpPr>
        <p:spPr>
          <a:xfrm>
            <a:off x="9330903" y="5074920"/>
            <a:ext cx="32918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6" name="Rounded Rectangle 15"/>
          <p:cNvSpPr/>
          <p:nvPr/>
        </p:nvSpPr>
        <p:spPr>
          <a:xfrm>
            <a:off x="9660087" y="5074920"/>
            <a:ext cx="1937247" cy="658368"/>
          </a:xfrm>
          <a:prstGeom prst="roundRect">
            <a:avLst>
              <a:gd name="adj" fmla="val 5555"/>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1">
                <a:solidFill>
                  <a:srgbClr val="0B0F19"/>
                </a:solidFill>
                <a:latin typeface="Calibri"/>
              </a:rPr>
              <a:t>Insights</a:t>
            </a:r>
          </a:p>
        </p:txBody>
      </p:sp>
      <p:sp>
        <p:nvSpPr>
          <p:cNvPr id="17" name="TextBox 16"/>
          <p:cNvSpPr txBox="1"/>
          <p:nvPr/>
        </p:nvSpPr>
        <p:spPr>
          <a:xfrm>
            <a:off x="594360" y="6382512"/>
            <a:ext cx="7315200" cy="219456"/>
          </a:xfrm>
          <a:prstGeom prst="rect">
            <a:avLst/>
          </a:prstGeom>
          <a:noFill/>
          <a:effectLst/>
        </p:spPr>
        <p:txBody>
          <a:bodyPr wrap="square" lIns="0" rIns="0" tIns="0" bIns="0" anchor="t">
            <a:spAutoFit/>
          </a:bodyPr>
          <a:lstStyle/>
          <a:p>
            <a:pPr algn="l"/>
            <a:r>
              <a:rPr sz="900" b="0">
                <a:solidFill>
                  <a:srgbClr val="9AA3AF"/>
                </a:solidFill>
                <a:latin typeface="Consolas"/>
              </a:rPr>
              <a:t>github.com/harsh01jain/AskBase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APPLICATION NEED</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Every business question waits in a queue</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2</a:t>
            </a:r>
          </a:p>
        </p:txBody>
      </p:sp>
      <p:sp>
        <p:nvSpPr>
          <p:cNvPr id="7" name="Rounded Rectangle 6"/>
          <p:cNvSpPr/>
          <p:nvPr/>
        </p:nvSpPr>
        <p:spPr>
          <a:xfrm>
            <a:off x="594360" y="1572768"/>
            <a:ext cx="2880360" cy="3154680"/>
          </a:xfrm>
          <a:prstGeom prst="roundRect">
            <a:avLst>
              <a:gd name="adj" fmla="val 1269"/>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813816" y="1792224"/>
            <a:ext cx="2441448" cy="201168"/>
          </a:xfrm>
          <a:prstGeom prst="rect">
            <a:avLst/>
          </a:prstGeom>
          <a:noFill/>
          <a:effectLst/>
        </p:spPr>
        <p:txBody>
          <a:bodyPr wrap="square" lIns="0" rIns="0" tIns="0" bIns="0" anchor="t">
            <a:spAutoFit/>
          </a:bodyPr>
          <a:lstStyle/>
          <a:p>
            <a:pPr algn="l"/>
            <a:r>
              <a:rPr sz="950" b="1" spc="150">
                <a:solidFill>
                  <a:srgbClr val="9AA3AF"/>
                </a:solidFill>
                <a:latin typeface="Calibri"/>
              </a:rPr>
              <a:t>TRADITIONAL DATA ACCESS</a:t>
            </a:r>
          </a:p>
        </p:txBody>
      </p:sp>
      <p:sp>
        <p:nvSpPr>
          <p:cNvPr id="9" name="TextBox 8"/>
          <p:cNvSpPr txBox="1"/>
          <p:nvPr/>
        </p:nvSpPr>
        <p:spPr>
          <a:xfrm>
            <a:off x="813816" y="2212848"/>
            <a:ext cx="2441448" cy="1783080"/>
          </a:xfrm>
          <a:prstGeom prst="rect">
            <a:avLst/>
          </a:prstGeom>
          <a:noFill/>
          <a:effectLst/>
        </p:spPr>
        <p:txBody>
          <a:bodyPr wrap="square" lIns="0" rIns="0" tIns="0" bIns="0" anchor="t">
            <a:spAutoFit/>
          </a:bodyPr>
          <a:lstStyle/>
          <a:p>
            <a:pPr algn="l"/>
            <a:r>
              <a:rPr sz="1150" b="0">
                <a:solidFill>
                  <a:srgbClr val="4B5563"/>
                </a:solidFill>
                <a:latin typeface="Calibri"/>
              </a:rPr>
              <a:t>Business user</a:t>
            </a:r>
          </a:p>
          <a:p>
            <a:pPr algn="l">
              <a:spcBef>
                <a:spcPts val="300"/>
              </a:spcBef>
              <a:spcAft>
                <a:spcPts val="300"/>
              </a:spcAft>
            </a:pPr>
            <a:r>
              <a:rPr sz="1100" b="0">
                <a:solidFill>
                  <a:srgbClr val="9AA3AF"/>
                </a:solidFill>
                <a:latin typeface="Calibri"/>
              </a:rPr>
              <a:t>↓</a:t>
            </a:r>
          </a:p>
          <a:p>
            <a:pPr algn="l"/>
            <a:r>
              <a:rPr sz="1150" b="0">
                <a:solidFill>
                  <a:srgbClr val="4B5563"/>
                </a:solidFill>
                <a:latin typeface="Calibri"/>
              </a:rPr>
              <a:t>Raises a data request</a:t>
            </a:r>
          </a:p>
          <a:p>
            <a:pPr algn="l">
              <a:spcBef>
                <a:spcPts val="300"/>
              </a:spcBef>
              <a:spcAft>
                <a:spcPts val="300"/>
              </a:spcAft>
            </a:pPr>
            <a:r>
              <a:rPr sz="1100" b="0">
                <a:solidFill>
                  <a:srgbClr val="9AA3AF"/>
                </a:solidFill>
                <a:latin typeface="Calibri"/>
              </a:rPr>
              <a:t>↓</a:t>
            </a:r>
          </a:p>
          <a:p>
            <a:pPr algn="l"/>
            <a:r>
              <a:rPr sz="1150" b="0">
                <a:solidFill>
                  <a:srgbClr val="4B5563"/>
                </a:solidFill>
                <a:latin typeface="Calibri"/>
              </a:rPr>
              <a:t>Waits for an analyst</a:t>
            </a:r>
          </a:p>
          <a:p>
            <a:pPr algn="l">
              <a:spcBef>
                <a:spcPts val="300"/>
              </a:spcBef>
              <a:spcAft>
                <a:spcPts val="300"/>
              </a:spcAft>
            </a:pPr>
            <a:r>
              <a:rPr sz="1100" b="0">
                <a:solidFill>
                  <a:srgbClr val="9AA3AF"/>
                </a:solidFill>
                <a:latin typeface="Calibri"/>
              </a:rPr>
              <a:t>↓</a:t>
            </a:r>
          </a:p>
          <a:p>
            <a:pPr algn="l"/>
            <a:r>
              <a:rPr sz="1150" b="0">
                <a:solidFill>
                  <a:srgbClr val="4B5563"/>
                </a:solidFill>
                <a:latin typeface="Calibri"/>
              </a:rPr>
              <a:t>Receives SQL or a CSV</a:t>
            </a:r>
          </a:p>
        </p:txBody>
      </p:sp>
      <p:sp>
        <p:nvSpPr>
          <p:cNvPr id="10" name="Rectangle 9"/>
          <p:cNvSpPr/>
          <p:nvPr/>
        </p:nvSpPr>
        <p:spPr>
          <a:xfrm>
            <a:off x="813816" y="3977639"/>
            <a:ext cx="2441448" cy="12801"/>
          </a:xfrm>
          <a:prstGeom prst="rect">
            <a:avLst/>
          </a:prstGeom>
          <a:solidFill>
            <a:srgbClr val="E4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4160520"/>
            <a:ext cx="2441448" cy="310896"/>
          </a:xfrm>
          <a:prstGeom prst="rect">
            <a:avLst/>
          </a:prstGeom>
          <a:noFill/>
          <a:effectLst/>
        </p:spPr>
        <p:txBody>
          <a:bodyPr wrap="square" lIns="0" rIns="0" tIns="0" bIns="0" anchor="t">
            <a:spAutoFit/>
          </a:bodyPr>
          <a:lstStyle/>
          <a:p>
            <a:pPr algn="l"/>
            <a:r>
              <a:rPr sz="1700" b="1">
                <a:solidFill>
                  <a:srgbClr val="0B0F19"/>
                </a:solidFill>
                <a:latin typeface="Georgia"/>
              </a:rPr>
              <a:t>Hours to days</a:t>
            </a:r>
          </a:p>
        </p:txBody>
      </p:sp>
      <p:sp>
        <p:nvSpPr>
          <p:cNvPr id="12" name="Rounded Rectangle 11"/>
          <p:cNvSpPr/>
          <p:nvPr/>
        </p:nvSpPr>
        <p:spPr>
          <a:xfrm>
            <a:off x="3703320" y="1572768"/>
            <a:ext cx="2880360" cy="3154680"/>
          </a:xfrm>
          <a:prstGeom prst="roundRect">
            <a:avLst>
              <a:gd name="adj" fmla="val 126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3922776" y="1792224"/>
            <a:ext cx="2441448" cy="201168"/>
          </a:xfrm>
          <a:prstGeom prst="rect">
            <a:avLst/>
          </a:prstGeom>
          <a:noFill/>
          <a:effectLst/>
        </p:spPr>
        <p:txBody>
          <a:bodyPr wrap="square" lIns="0" rIns="0" tIns="0" bIns="0" anchor="t">
            <a:spAutoFit/>
          </a:bodyPr>
          <a:lstStyle/>
          <a:p>
            <a:pPr algn="l"/>
            <a:r>
              <a:rPr sz="950" b="1" spc="150">
                <a:solidFill>
                  <a:srgbClr val="4338CA"/>
                </a:solidFill>
                <a:latin typeface="Calibri"/>
              </a:rPr>
              <a:t>ASKBASE</a:t>
            </a:r>
          </a:p>
        </p:txBody>
      </p:sp>
      <p:sp>
        <p:nvSpPr>
          <p:cNvPr id="14" name="TextBox 13"/>
          <p:cNvSpPr txBox="1"/>
          <p:nvPr/>
        </p:nvSpPr>
        <p:spPr>
          <a:xfrm>
            <a:off x="3922776" y="2212848"/>
            <a:ext cx="2441448" cy="1783080"/>
          </a:xfrm>
          <a:prstGeom prst="rect">
            <a:avLst/>
          </a:prstGeom>
          <a:noFill/>
          <a:effectLst/>
        </p:spPr>
        <p:txBody>
          <a:bodyPr wrap="square" lIns="0" rIns="0" tIns="0" bIns="0" anchor="t">
            <a:spAutoFit/>
          </a:bodyPr>
          <a:lstStyle/>
          <a:p>
            <a:pPr algn="l"/>
            <a:r>
              <a:rPr sz="1150" b="0">
                <a:solidFill>
                  <a:srgbClr val="4B5563"/>
                </a:solidFill>
                <a:latin typeface="Calibri"/>
              </a:rPr>
              <a:t>Business user</a:t>
            </a:r>
          </a:p>
          <a:p>
            <a:pPr algn="l">
              <a:spcBef>
                <a:spcPts val="300"/>
              </a:spcBef>
              <a:spcAft>
                <a:spcPts val="300"/>
              </a:spcAft>
            </a:pPr>
            <a:r>
              <a:rPr sz="1100" b="0">
                <a:solidFill>
                  <a:srgbClr val="9AA3AF"/>
                </a:solidFill>
                <a:latin typeface="Calibri"/>
              </a:rPr>
              <a:t>↓</a:t>
            </a:r>
          </a:p>
          <a:p>
            <a:pPr algn="l"/>
            <a:r>
              <a:rPr sz="1150" b="0">
                <a:solidFill>
                  <a:srgbClr val="4B5563"/>
                </a:solidFill>
                <a:latin typeface="Calibri"/>
              </a:rPr>
              <a:t>Asks in plain English</a:t>
            </a:r>
          </a:p>
          <a:p>
            <a:pPr algn="l">
              <a:spcBef>
                <a:spcPts val="300"/>
              </a:spcBef>
              <a:spcAft>
                <a:spcPts val="300"/>
              </a:spcAft>
            </a:pPr>
            <a:r>
              <a:rPr sz="1100" b="0">
                <a:solidFill>
                  <a:srgbClr val="9AA3AF"/>
                </a:solidFill>
                <a:latin typeface="Calibri"/>
              </a:rPr>
              <a:t>↓</a:t>
            </a:r>
          </a:p>
          <a:p>
            <a:pPr algn="l"/>
            <a:r>
              <a:rPr sz="1150" b="0">
                <a:solidFill>
                  <a:srgbClr val="4B5563"/>
                </a:solidFill>
                <a:latin typeface="Calibri"/>
              </a:rPr>
              <a:t>Results, SQL, chart, explanation</a:t>
            </a:r>
          </a:p>
        </p:txBody>
      </p:sp>
      <p:sp>
        <p:nvSpPr>
          <p:cNvPr id="15" name="Rectangle 14"/>
          <p:cNvSpPr/>
          <p:nvPr/>
        </p:nvSpPr>
        <p:spPr>
          <a:xfrm>
            <a:off x="3922776" y="3977639"/>
            <a:ext cx="2441448" cy="12801"/>
          </a:xfrm>
          <a:prstGeom prst="rect">
            <a:avLst/>
          </a:prstGeom>
          <a:solidFill>
            <a:srgbClr val="E4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22776" y="4160520"/>
            <a:ext cx="2441448" cy="310896"/>
          </a:xfrm>
          <a:prstGeom prst="rect">
            <a:avLst/>
          </a:prstGeom>
          <a:noFill/>
          <a:effectLst/>
        </p:spPr>
        <p:txBody>
          <a:bodyPr wrap="square" lIns="0" rIns="0" tIns="0" bIns="0" anchor="t">
            <a:spAutoFit/>
          </a:bodyPr>
          <a:lstStyle/>
          <a:p>
            <a:pPr algn="l"/>
            <a:r>
              <a:rPr sz="1700" b="1">
                <a:solidFill>
                  <a:srgbClr val="4338CA"/>
                </a:solidFill>
                <a:latin typeface="Georgia"/>
              </a:rPr>
              <a:t>Seconds</a:t>
            </a:r>
          </a:p>
        </p:txBody>
      </p:sp>
      <p:sp>
        <p:nvSpPr>
          <p:cNvPr id="17" name="Rounded Rectangle 16"/>
          <p:cNvSpPr/>
          <p:nvPr/>
        </p:nvSpPr>
        <p:spPr>
          <a:xfrm>
            <a:off x="6812280" y="1572768"/>
            <a:ext cx="4785055" cy="3154680"/>
          </a:xfrm>
          <a:prstGeom prst="roundRect">
            <a:avLst>
              <a:gd name="adj" fmla="val 1159"/>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050024" y="1792224"/>
            <a:ext cx="4309567" cy="402336"/>
          </a:xfrm>
          <a:prstGeom prst="rect">
            <a:avLst/>
          </a:prstGeom>
          <a:noFill/>
          <a:effectLst/>
        </p:spPr>
        <p:txBody>
          <a:bodyPr wrap="square" lIns="0" rIns="0" tIns="0" bIns="0" anchor="t">
            <a:spAutoFit/>
          </a:bodyPr>
          <a:lstStyle/>
          <a:p>
            <a:pPr algn="l">
              <a:spcAft>
                <a:spcPts val="200"/>
              </a:spcAft>
            </a:pPr>
            <a:r>
              <a:rPr sz="1500" b="1">
                <a:solidFill>
                  <a:srgbClr val="0B0F19"/>
                </a:solidFill>
                <a:latin typeface="Calibri"/>
              </a:rPr>
              <a:t>Hand-offs before an answer</a:t>
            </a:r>
          </a:p>
          <a:p>
            <a:pPr algn="l"/>
            <a:r>
              <a:rPr sz="1000" b="0">
                <a:solidFill>
                  <a:srgbClr val="9AA3AF"/>
                </a:solidFill>
                <a:latin typeface="Calibri"/>
              </a:rPr>
              <a:t>Counted from the two flows on the left</a:t>
            </a:r>
          </a:p>
        </p:txBody>
      </p:sp>
      <p:graphicFrame>
        <p:nvGraphicFramePr>
          <p:cNvPr id="19" name="Chart 18"/>
          <p:cNvGraphicFramePr>
            <a:graphicFrameLocks noGrp="1"/>
          </p:cNvGraphicFramePr>
          <p:nvPr/>
        </p:nvGraphicFramePr>
        <p:xfrm>
          <a:off x="6995160" y="2505456"/>
          <a:ext cx="4419295" cy="1965960"/>
        </p:xfrm>
        <a:graphic>
          <a:graphicData uri="http://schemas.openxmlformats.org/drawingml/2006/chart">
            <c:chart xmlns:c="http://schemas.openxmlformats.org/drawingml/2006/chart" r:id="rId2"/>
          </a:graphicData>
        </a:graphic>
      </p:graphicFrame>
      <p:sp>
        <p:nvSpPr>
          <p:cNvPr id="20" name="Rounded Rectangle 19"/>
          <p:cNvSpPr/>
          <p:nvPr/>
        </p:nvSpPr>
        <p:spPr>
          <a:xfrm>
            <a:off x="594360" y="5047488"/>
            <a:ext cx="2599867" cy="566928"/>
          </a:xfrm>
          <a:prstGeom prst="roundRect">
            <a:avLst>
              <a:gd name="adj" fmla="val 4838"/>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Slow data access</a:t>
            </a:r>
          </a:p>
        </p:txBody>
      </p:sp>
      <p:sp>
        <p:nvSpPr>
          <p:cNvPr id="21" name="Rounded Rectangle 20"/>
          <p:cNvSpPr/>
          <p:nvPr/>
        </p:nvSpPr>
        <p:spPr>
          <a:xfrm>
            <a:off x="3395395" y="5047488"/>
            <a:ext cx="2599867" cy="566928"/>
          </a:xfrm>
          <a:prstGeom prst="roundRect">
            <a:avLst>
              <a:gd name="adj" fmla="val 4838"/>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Dependency on technical teams</a:t>
            </a:r>
          </a:p>
        </p:txBody>
      </p:sp>
      <p:sp>
        <p:nvSpPr>
          <p:cNvPr id="22" name="Rounded Rectangle 21"/>
          <p:cNvSpPr/>
          <p:nvPr/>
        </p:nvSpPr>
        <p:spPr>
          <a:xfrm>
            <a:off x="6196431" y="5047488"/>
            <a:ext cx="2599867" cy="566928"/>
          </a:xfrm>
          <a:prstGeom prst="roundRect">
            <a:avLst>
              <a:gd name="adj" fmla="val 4838"/>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Limited self-service analytics</a:t>
            </a:r>
          </a:p>
        </p:txBody>
      </p:sp>
      <p:sp>
        <p:nvSpPr>
          <p:cNvPr id="23" name="Rounded Rectangle 22"/>
          <p:cNvSpPr/>
          <p:nvPr/>
        </p:nvSpPr>
        <p:spPr>
          <a:xfrm>
            <a:off x="8997467" y="5047488"/>
            <a:ext cx="2599867" cy="566928"/>
          </a:xfrm>
          <a:prstGeom prst="roundRect">
            <a:avLst>
              <a:gd name="adj" fmla="val 4838"/>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100" b="0">
                <a:solidFill>
                  <a:srgbClr val="4B5563"/>
                </a:solidFill>
                <a:latin typeface="Calibri"/>
              </a:rPr>
              <a:t>Cloud AI raises privacy concerns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THE APPLICATION</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One question in, a verified answer out</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3</a:t>
            </a:r>
          </a:p>
        </p:txBody>
      </p:sp>
      <p:sp>
        <p:nvSpPr>
          <p:cNvPr id="7" name="Rounded Rectangle 6"/>
          <p:cNvSpPr/>
          <p:nvPr/>
        </p:nvSpPr>
        <p:spPr>
          <a:xfrm>
            <a:off x="594360" y="1691640"/>
            <a:ext cx="1589989" cy="1051560"/>
          </a:xfrm>
          <a:prstGeom prst="roundRect">
            <a:avLst>
              <a:gd name="adj" fmla="val 3478"/>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1">
                <a:solidFill>
                  <a:srgbClr val="0B0F19"/>
                </a:solidFill>
                <a:latin typeface="Calibri"/>
              </a:rPr>
              <a:t>User Question</a:t>
            </a:r>
          </a:p>
        </p:txBody>
      </p:sp>
      <p:sp>
        <p:nvSpPr>
          <p:cNvPr id="8" name="TextBox 7"/>
          <p:cNvSpPr txBox="1"/>
          <p:nvPr/>
        </p:nvSpPr>
        <p:spPr>
          <a:xfrm>
            <a:off x="2184349" y="1691640"/>
            <a:ext cx="292608" cy="105156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9" name="Rounded Rectangle 8"/>
          <p:cNvSpPr/>
          <p:nvPr/>
        </p:nvSpPr>
        <p:spPr>
          <a:xfrm>
            <a:off x="2476957" y="1691640"/>
            <a:ext cx="1589989"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0">
                <a:solidFill>
                  <a:srgbClr val="4B5563"/>
                </a:solidFill>
                <a:latin typeface="Calibri"/>
              </a:rPr>
              <a:t>Semantic Schema Retrieval</a:t>
            </a:r>
          </a:p>
        </p:txBody>
      </p:sp>
      <p:sp>
        <p:nvSpPr>
          <p:cNvPr id="10" name="TextBox 9"/>
          <p:cNvSpPr txBox="1"/>
          <p:nvPr/>
        </p:nvSpPr>
        <p:spPr>
          <a:xfrm>
            <a:off x="4066946" y="1691640"/>
            <a:ext cx="292608" cy="105156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1" name="Rounded Rectangle 10"/>
          <p:cNvSpPr/>
          <p:nvPr/>
        </p:nvSpPr>
        <p:spPr>
          <a:xfrm>
            <a:off x="4359554" y="1691640"/>
            <a:ext cx="1589989"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0">
                <a:solidFill>
                  <a:srgbClr val="4B5563"/>
                </a:solidFill>
                <a:latin typeface="Calibri"/>
              </a:rPr>
              <a:t>Local LLM</a:t>
            </a:r>
          </a:p>
        </p:txBody>
      </p:sp>
      <p:sp>
        <p:nvSpPr>
          <p:cNvPr id="12" name="TextBox 11"/>
          <p:cNvSpPr txBox="1"/>
          <p:nvPr/>
        </p:nvSpPr>
        <p:spPr>
          <a:xfrm>
            <a:off x="5949543" y="1691640"/>
            <a:ext cx="292608" cy="105156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3" name="Rounded Rectangle 12"/>
          <p:cNvSpPr/>
          <p:nvPr/>
        </p:nvSpPr>
        <p:spPr>
          <a:xfrm>
            <a:off x="6242151" y="1691640"/>
            <a:ext cx="1589989"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0">
                <a:solidFill>
                  <a:srgbClr val="4B5563"/>
                </a:solidFill>
                <a:latin typeface="Calibri"/>
              </a:rPr>
              <a:t>Safe SQL</a:t>
            </a:r>
          </a:p>
        </p:txBody>
      </p:sp>
      <p:sp>
        <p:nvSpPr>
          <p:cNvPr id="14" name="TextBox 13"/>
          <p:cNvSpPr txBox="1"/>
          <p:nvPr/>
        </p:nvSpPr>
        <p:spPr>
          <a:xfrm>
            <a:off x="7832140" y="1691640"/>
            <a:ext cx="292608" cy="105156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5" name="Rounded Rectangle 14"/>
          <p:cNvSpPr/>
          <p:nvPr/>
        </p:nvSpPr>
        <p:spPr>
          <a:xfrm>
            <a:off x="8124748" y="1691640"/>
            <a:ext cx="1589989"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0">
                <a:solidFill>
                  <a:srgbClr val="4B5563"/>
                </a:solidFill>
                <a:latin typeface="Calibri"/>
              </a:rPr>
              <a:t>PostgreSQL</a:t>
            </a:r>
          </a:p>
        </p:txBody>
      </p:sp>
      <p:sp>
        <p:nvSpPr>
          <p:cNvPr id="16" name="TextBox 15"/>
          <p:cNvSpPr txBox="1"/>
          <p:nvPr/>
        </p:nvSpPr>
        <p:spPr>
          <a:xfrm>
            <a:off x="9714738" y="1691640"/>
            <a:ext cx="292608" cy="105156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7" name="Rounded Rectangle 16"/>
          <p:cNvSpPr/>
          <p:nvPr/>
        </p:nvSpPr>
        <p:spPr>
          <a:xfrm>
            <a:off x="10007346" y="1691640"/>
            <a:ext cx="1589989" cy="1051560"/>
          </a:xfrm>
          <a:prstGeom prst="roundRect">
            <a:avLst>
              <a:gd name="adj" fmla="val 3478"/>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50" b="1">
                <a:solidFill>
                  <a:srgbClr val="0B0F19"/>
                </a:solidFill>
                <a:latin typeface="Calibri"/>
              </a:rPr>
              <a:t>Results &amp; Chart</a:t>
            </a:r>
          </a:p>
        </p:txBody>
      </p:sp>
      <p:sp>
        <p:nvSpPr>
          <p:cNvPr id="18" name="Rounded Rectangle 17"/>
          <p:cNvSpPr/>
          <p:nvPr/>
        </p:nvSpPr>
        <p:spPr>
          <a:xfrm>
            <a:off x="594360" y="3310128"/>
            <a:ext cx="3515258" cy="2057400"/>
          </a:xfrm>
          <a:prstGeom prst="roundRect">
            <a:avLst>
              <a:gd name="adj" fmla="val 1777"/>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850392" y="3703320"/>
            <a:ext cx="3003194" cy="457200"/>
          </a:xfrm>
          <a:prstGeom prst="rect">
            <a:avLst/>
          </a:prstGeom>
          <a:noFill/>
          <a:effectLst/>
        </p:spPr>
        <p:txBody>
          <a:bodyPr wrap="square" lIns="0" rIns="0" tIns="0" bIns="0" anchor="t">
            <a:spAutoFit/>
          </a:bodyPr>
          <a:lstStyle/>
          <a:p>
            <a:pPr algn="l"/>
            <a:r>
              <a:rPr sz="2700" b="1">
                <a:solidFill>
                  <a:srgbClr val="4338CA"/>
                </a:solidFill>
                <a:latin typeface="Georgia"/>
              </a:rPr>
              <a:t>Private</a:t>
            </a:r>
          </a:p>
        </p:txBody>
      </p:sp>
      <p:sp>
        <p:nvSpPr>
          <p:cNvPr id="20" name="TextBox 19"/>
          <p:cNvSpPr txBox="1"/>
          <p:nvPr/>
        </p:nvSpPr>
        <p:spPr>
          <a:xfrm>
            <a:off x="850392" y="4370832"/>
            <a:ext cx="3003194" cy="640080"/>
          </a:xfrm>
          <a:prstGeom prst="rect">
            <a:avLst/>
          </a:prstGeom>
          <a:noFill/>
          <a:effectLst/>
        </p:spPr>
        <p:txBody>
          <a:bodyPr wrap="square" lIns="0" rIns="0" tIns="0" bIns="0" anchor="t">
            <a:spAutoFit/>
          </a:bodyPr>
          <a:lstStyle/>
          <a:p>
            <a:pPr algn="l">
              <a:lnSpc>
                <a:spcPct val="105000"/>
              </a:lnSpc>
            </a:pPr>
            <a:r>
              <a:rPr sz="1200" b="0">
                <a:solidFill>
                  <a:srgbClr val="4B5563"/>
                </a:solidFill>
                <a:latin typeface="Calibri"/>
              </a:rPr>
              <a:t>Every component runs on your machine.</a:t>
            </a:r>
          </a:p>
        </p:txBody>
      </p:sp>
      <p:sp>
        <p:nvSpPr>
          <p:cNvPr id="21" name="Rounded Rectangle 20"/>
          <p:cNvSpPr/>
          <p:nvPr/>
        </p:nvSpPr>
        <p:spPr>
          <a:xfrm>
            <a:off x="4338218" y="3310128"/>
            <a:ext cx="3515258" cy="2057400"/>
          </a:xfrm>
          <a:prstGeom prst="roundRect">
            <a:avLst>
              <a:gd name="adj" fmla="val 1777"/>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4594250" y="3703320"/>
            <a:ext cx="3003194" cy="457200"/>
          </a:xfrm>
          <a:prstGeom prst="rect">
            <a:avLst/>
          </a:prstGeom>
          <a:noFill/>
          <a:effectLst/>
        </p:spPr>
        <p:txBody>
          <a:bodyPr wrap="square" lIns="0" rIns="0" tIns="0" bIns="0" anchor="t">
            <a:spAutoFit/>
          </a:bodyPr>
          <a:lstStyle/>
          <a:p>
            <a:pPr algn="l"/>
            <a:r>
              <a:rPr sz="2700" b="1">
                <a:solidFill>
                  <a:srgbClr val="0B0F19"/>
                </a:solidFill>
                <a:latin typeface="Georgia"/>
              </a:rPr>
              <a:t>Simple</a:t>
            </a:r>
          </a:p>
        </p:txBody>
      </p:sp>
      <p:sp>
        <p:nvSpPr>
          <p:cNvPr id="23" name="TextBox 22"/>
          <p:cNvSpPr txBox="1"/>
          <p:nvPr/>
        </p:nvSpPr>
        <p:spPr>
          <a:xfrm>
            <a:off x="4594250" y="4370832"/>
            <a:ext cx="3003194" cy="640080"/>
          </a:xfrm>
          <a:prstGeom prst="rect">
            <a:avLst/>
          </a:prstGeom>
          <a:noFill/>
          <a:effectLst/>
        </p:spPr>
        <p:txBody>
          <a:bodyPr wrap="square" lIns="0" rIns="0" tIns="0" bIns="0" anchor="t">
            <a:spAutoFit/>
          </a:bodyPr>
          <a:lstStyle/>
          <a:p>
            <a:pPr algn="l">
              <a:lnSpc>
                <a:spcPct val="105000"/>
              </a:lnSpc>
            </a:pPr>
            <a:r>
              <a:rPr sz="1200" b="0">
                <a:solidFill>
                  <a:srgbClr val="4B5563"/>
                </a:solidFill>
                <a:latin typeface="Calibri"/>
              </a:rPr>
              <a:t>Natural language instead of SQL.</a:t>
            </a:r>
          </a:p>
        </p:txBody>
      </p:sp>
      <p:sp>
        <p:nvSpPr>
          <p:cNvPr id="24" name="Rounded Rectangle 23"/>
          <p:cNvSpPr/>
          <p:nvPr/>
        </p:nvSpPr>
        <p:spPr>
          <a:xfrm>
            <a:off x="8082076" y="3310128"/>
            <a:ext cx="3515258" cy="2057400"/>
          </a:xfrm>
          <a:prstGeom prst="roundRect">
            <a:avLst>
              <a:gd name="adj" fmla="val 1777"/>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8338108" y="3703320"/>
            <a:ext cx="3003194" cy="457200"/>
          </a:xfrm>
          <a:prstGeom prst="rect">
            <a:avLst/>
          </a:prstGeom>
          <a:noFill/>
          <a:effectLst/>
        </p:spPr>
        <p:txBody>
          <a:bodyPr wrap="square" lIns="0" rIns="0" tIns="0" bIns="0" anchor="t">
            <a:spAutoFit/>
          </a:bodyPr>
          <a:lstStyle/>
          <a:p>
            <a:pPr algn="l"/>
            <a:r>
              <a:rPr sz="2700" b="1">
                <a:solidFill>
                  <a:srgbClr val="0B0F19"/>
                </a:solidFill>
                <a:latin typeface="Georgia"/>
              </a:rPr>
              <a:t>Safe</a:t>
            </a:r>
          </a:p>
        </p:txBody>
      </p:sp>
      <p:sp>
        <p:nvSpPr>
          <p:cNvPr id="26" name="TextBox 25"/>
          <p:cNvSpPr txBox="1"/>
          <p:nvPr/>
        </p:nvSpPr>
        <p:spPr>
          <a:xfrm>
            <a:off x="8338108" y="4370832"/>
            <a:ext cx="3003194" cy="640080"/>
          </a:xfrm>
          <a:prstGeom prst="rect">
            <a:avLst/>
          </a:prstGeom>
          <a:noFill/>
          <a:effectLst/>
        </p:spPr>
        <p:txBody>
          <a:bodyPr wrap="square" lIns="0" rIns="0" tIns="0" bIns="0" anchor="t">
            <a:spAutoFit/>
          </a:bodyPr>
          <a:lstStyle/>
          <a:p>
            <a:pPr algn="l">
              <a:lnSpc>
                <a:spcPct val="105000"/>
              </a:lnSpc>
            </a:pPr>
            <a:r>
              <a:rPr sz="1200" b="0">
                <a:solidFill>
                  <a:srgbClr val="4B5563"/>
                </a:solidFill>
                <a:latin typeface="Calibri"/>
              </a:rPr>
              <a:t>Multiple SQL security 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DEVELOPMENT APPROACH</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Three layers, all running on your machine</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4</a:t>
            </a:r>
          </a:p>
        </p:txBody>
      </p:sp>
      <p:sp>
        <p:nvSpPr>
          <p:cNvPr id="7" name="Rounded Rectangle 6"/>
          <p:cNvSpPr/>
          <p:nvPr/>
        </p:nvSpPr>
        <p:spPr>
          <a:xfrm>
            <a:off x="594360" y="1517904"/>
            <a:ext cx="11002975" cy="914400"/>
          </a:xfrm>
          <a:prstGeom prst="roundRect">
            <a:avLst>
              <a:gd name="adj" fmla="val 4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850392" y="1737360"/>
            <a:ext cx="2743200" cy="502920"/>
          </a:xfrm>
          <a:prstGeom prst="rect">
            <a:avLst/>
          </a:prstGeom>
          <a:noFill/>
          <a:effectLst/>
        </p:spPr>
        <p:txBody>
          <a:bodyPr wrap="square" lIns="0" rIns="0" tIns="0" bIns="0" anchor="t">
            <a:spAutoFit/>
          </a:bodyPr>
          <a:lstStyle/>
          <a:p>
            <a:pPr algn="l">
              <a:spcAft>
                <a:spcPts val="300"/>
              </a:spcAft>
            </a:pPr>
            <a:r>
              <a:rPr sz="1000" b="1" spc="200">
                <a:solidFill>
                  <a:srgbClr val="4338CA"/>
                </a:solidFill>
                <a:latin typeface="Calibri"/>
              </a:rPr>
              <a:t>USER INTERFACE</a:t>
            </a:r>
          </a:p>
          <a:p>
            <a:pPr algn="l"/>
            <a:r>
              <a:rPr sz="950" b="0">
                <a:solidFill>
                  <a:srgbClr val="4338CA"/>
                </a:solidFill>
                <a:latin typeface="Consolas"/>
              </a:rPr>
              <a:t>Next.js 14 · TypeScript</a:t>
            </a:r>
          </a:p>
        </p:txBody>
      </p:sp>
      <p:sp>
        <p:nvSpPr>
          <p:cNvPr id="9" name="Rounded Rectangle 8"/>
          <p:cNvSpPr/>
          <p:nvPr/>
        </p:nvSpPr>
        <p:spPr>
          <a:xfrm>
            <a:off x="3657600" y="1773936"/>
            <a:ext cx="1419697" cy="402336"/>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Chat</a:t>
            </a:r>
          </a:p>
        </p:txBody>
      </p:sp>
      <p:sp>
        <p:nvSpPr>
          <p:cNvPr id="10" name="Rounded Rectangle 9"/>
          <p:cNvSpPr/>
          <p:nvPr/>
        </p:nvSpPr>
        <p:spPr>
          <a:xfrm>
            <a:off x="5223601" y="1773936"/>
            <a:ext cx="1419697" cy="402336"/>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Voice input</a:t>
            </a:r>
          </a:p>
        </p:txBody>
      </p:sp>
      <p:sp>
        <p:nvSpPr>
          <p:cNvPr id="11" name="Rounded Rectangle 10"/>
          <p:cNvSpPr/>
          <p:nvPr/>
        </p:nvSpPr>
        <p:spPr>
          <a:xfrm>
            <a:off x="6789602" y="1773936"/>
            <a:ext cx="1419697" cy="402336"/>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SQL display</a:t>
            </a:r>
          </a:p>
        </p:txBody>
      </p:sp>
      <p:sp>
        <p:nvSpPr>
          <p:cNvPr id="12" name="Rounded Rectangle 11"/>
          <p:cNvSpPr/>
          <p:nvPr/>
        </p:nvSpPr>
        <p:spPr>
          <a:xfrm>
            <a:off x="8355604" y="1773936"/>
            <a:ext cx="1419697" cy="402336"/>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Results table</a:t>
            </a:r>
          </a:p>
        </p:txBody>
      </p:sp>
      <p:sp>
        <p:nvSpPr>
          <p:cNvPr id="13" name="Rounded Rectangle 12"/>
          <p:cNvSpPr/>
          <p:nvPr/>
        </p:nvSpPr>
        <p:spPr>
          <a:xfrm>
            <a:off x="9921605" y="1773936"/>
            <a:ext cx="1419697" cy="402336"/>
          </a:xfrm>
          <a:prstGeom prst="roundRect">
            <a:avLst>
              <a:gd name="adj" fmla="val 68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Charts</a:t>
            </a:r>
          </a:p>
        </p:txBody>
      </p:sp>
      <p:sp>
        <p:nvSpPr>
          <p:cNvPr id="14" name="TextBox 13"/>
          <p:cNvSpPr txBox="1"/>
          <p:nvPr/>
        </p:nvSpPr>
        <p:spPr>
          <a:xfrm>
            <a:off x="594360" y="2450592"/>
            <a:ext cx="11002975" cy="1828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5" name="Rounded Rectangle 14"/>
          <p:cNvSpPr/>
          <p:nvPr/>
        </p:nvSpPr>
        <p:spPr>
          <a:xfrm>
            <a:off x="594360" y="2688336"/>
            <a:ext cx="11002975" cy="1810512"/>
          </a:xfrm>
          <a:prstGeom prst="roundRect">
            <a:avLst>
              <a:gd name="adj" fmla="val 202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850392" y="2926080"/>
            <a:ext cx="2743200" cy="502920"/>
          </a:xfrm>
          <a:prstGeom prst="rect">
            <a:avLst/>
          </a:prstGeom>
          <a:noFill/>
          <a:effectLst/>
        </p:spPr>
        <p:txBody>
          <a:bodyPr wrap="square" lIns="0" rIns="0" tIns="0" bIns="0" anchor="t">
            <a:spAutoFit/>
          </a:bodyPr>
          <a:lstStyle/>
          <a:p>
            <a:pPr algn="l">
              <a:spcAft>
                <a:spcPts val="300"/>
              </a:spcAft>
            </a:pPr>
            <a:r>
              <a:rPr sz="1000" b="1" spc="200">
                <a:solidFill>
                  <a:srgbClr val="4338CA"/>
                </a:solidFill>
                <a:latin typeface="Calibri"/>
              </a:rPr>
              <a:t>AI BACKEND</a:t>
            </a:r>
          </a:p>
          <a:p>
            <a:pPr algn="l"/>
            <a:r>
              <a:rPr sz="950" b="0">
                <a:solidFill>
                  <a:srgbClr val="4338CA"/>
                </a:solidFill>
                <a:latin typeface="Consolas"/>
              </a:rPr>
              <a:t>FastAPI · Python 3.11 · SSE</a:t>
            </a:r>
          </a:p>
        </p:txBody>
      </p:sp>
      <p:sp>
        <p:nvSpPr>
          <p:cNvPr id="17" name="Rounded Rectangle 16"/>
          <p:cNvSpPr/>
          <p:nvPr/>
        </p:nvSpPr>
        <p:spPr>
          <a:xfrm>
            <a:off x="3657600" y="2907791"/>
            <a:ext cx="1742617" cy="658368"/>
          </a:xfrm>
          <a:prstGeom prst="roundRect">
            <a:avLst>
              <a:gd name="adj" fmla="val 555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ChromaDB Retrieval</a:t>
            </a:r>
          </a:p>
        </p:txBody>
      </p:sp>
      <p:sp>
        <p:nvSpPr>
          <p:cNvPr id="18" name="TextBox 17"/>
          <p:cNvSpPr txBox="1"/>
          <p:nvPr/>
        </p:nvSpPr>
        <p:spPr>
          <a:xfrm>
            <a:off x="5400217" y="2907791"/>
            <a:ext cx="23774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9" name="Rounded Rectangle 18"/>
          <p:cNvSpPr/>
          <p:nvPr/>
        </p:nvSpPr>
        <p:spPr>
          <a:xfrm>
            <a:off x="5637961" y="2907791"/>
            <a:ext cx="1742617" cy="658368"/>
          </a:xfrm>
          <a:prstGeom prst="roundRect">
            <a:avLst>
              <a:gd name="adj" fmla="val 555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Local LLM (Ollama)</a:t>
            </a:r>
          </a:p>
        </p:txBody>
      </p:sp>
      <p:sp>
        <p:nvSpPr>
          <p:cNvPr id="20" name="TextBox 19"/>
          <p:cNvSpPr txBox="1"/>
          <p:nvPr/>
        </p:nvSpPr>
        <p:spPr>
          <a:xfrm>
            <a:off x="7380579" y="2907791"/>
            <a:ext cx="23774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1" name="Rounded Rectangle 20"/>
          <p:cNvSpPr/>
          <p:nvPr/>
        </p:nvSpPr>
        <p:spPr>
          <a:xfrm>
            <a:off x="7618323" y="2907791"/>
            <a:ext cx="1742617" cy="658368"/>
          </a:xfrm>
          <a:prstGeom prst="roundRect">
            <a:avLst>
              <a:gd name="adj" fmla="val 555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SQL Validation</a:t>
            </a:r>
          </a:p>
        </p:txBody>
      </p:sp>
      <p:sp>
        <p:nvSpPr>
          <p:cNvPr id="22" name="TextBox 21"/>
          <p:cNvSpPr txBox="1"/>
          <p:nvPr/>
        </p:nvSpPr>
        <p:spPr>
          <a:xfrm>
            <a:off x="9360941" y="2907791"/>
            <a:ext cx="237744" cy="658368"/>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3" name="Rounded Rectangle 22"/>
          <p:cNvSpPr/>
          <p:nvPr/>
        </p:nvSpPr>
        <p:spPr>
          <a:xfrm>
            <a:off x="9598685" y="2907791"/>
            <a:ext cx="1742617" cy="658368"/>
          </a:xfrm>
          <a:prstGeom prst="roundRect">
            <a:avLst>
              <a:gd name="adj" fmla="val 555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PostgreSQL Execution</a:t>
            </a:r>
          </a:p>
        </p:txBody>
      </p:sp>
      <p:sp>
        <p:nvSpPr>
          <p:cNvPr id="24" name="Left Arrow 23"/>
          <p:cNvSpPr/>
          <p:nvPr/>
        </p:nvSpPr>
        <p:spPr>
          <a:xfrm>
            <a:off x="3931920" y="3749039"/>
            <a:ext cx="7409383" cy="475488"/>
          </a:xfrm>
          <a:prstGeom prst="leftArrow">
            <a:avLst>
              <a:gd name="adj1" fmla="val 35000"/>
              <a:gd name="adj2" fmla="val 42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1">
                <a:solidFill>
                  <a:srgbClr val="4338CA"/>
                </a:solidFill>
                <a:latin typeface="Calibri"/>
              </a:rPr>
              <a:t>error feedback  ·  max 3 attempts</a:t>
            </a:r>
          </a:p>
        </p:txBody>
      </p:sp>
      <p:sp>
        <p:nvSpPr>
          <p:cNvPr id="25" name="TextBox 24"/>
          <p:cNvSpPr txBox="1"/>
          <p:nvPr/>
        </p:nvSpPr>
        <p:spPr>
          <a:xfrm>
            <a:off x="594360" y="4517136"/>
            <a:ext cx="11002975" cy="1828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6" name="Rounded Rectangle 25"/>
          <p:cNvSpPr/>
          <p:nvPr/>
        </p:nvSpPr>
        <p:spPr>
          <a:xfrm>
            <a:off x="594360" y="4700016"/>
            <a:ext cx="11002975" cy="1298448"/>
          </a:xfrm>
          <a:prstGeom prst="roundRect">
            <a:avLst>
              <a:gd name="adj" fmla="val 2816"/>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850392" y="4974336"/>
            <a:ext cx="2743200" cy="502920"/>
          </a:xfrm>
          <a:prstGeom prst="rect">
            <a:avLst/>
          </a:prstGeom>
          <a:noFill/>
          <a:effectLst/>
        </p:spPr>
        <p:txBody>
          <a:bodyPr wrap="square" lIns="0" rIns="0" tIns="0" bIns="0" anchor="t">
            <a:spAutoFit/>
          </a:bodyPr>
          <a:lstStyle/>
          <a:p>
            <a:pPr algn="l">
              <a:spcAft>
                <a:spcPts val="300"/>
              </a:spcAft>
            </a:pPr>
            <a:r>
              <a:rPr sz="1000" b="1" spc="200">
                <a:solidFill>
                  <a:srgbClr val="4338CA"/>
                </a:solidFill>
                <a:latin typeface="Calibri"/>
              </a:rPr>
              <a:t>CORE SERVICES</a:t>
            </a:r>
          </a:p>
          <a:p>
            <a:pPr algn="l"/>
            <a:r>
              <a:rPr sz="950" b="0">
                <a:solidFill>
                  <a:srgbClr val="4338CA"/>
                </a:solidFill>
                <a:latin typeface="Consolas"/>
              </a:rPr>
              <a:t>local · offline capable</a:t>
            </a:r>
          </a:p>
        </p:txBody>
      </p:sp>
      <p:sp>
        <p:nvSpPr>
          <p:cNvPr id="28" name="Rounded Rectangle 27"/>
          <p:cNvSpPr/>
          <p:nvPr/>
        </p:nvSpPr>
        <p:spPr>
          <a:xfrm>
            <a:off x="3657600" y="4937759"/>
            <a:ext cx="2427122" cy="822960"/>
          </a:xfrm>
          <a:prstGeom prst="roundRect">
            <a:avLst>
              <a:gd name="adj" fmla="val 44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TextBox 28"/>
          <p:cNvSpPr txBox="1"/>
          <p:nvPr/>
        </p:nvSpPr>
        <p:spPr>
          <a:xfrm>
            <a:off x="3840480" y="5084064"/>
            <a:ext cx="2061362" cy="475488"/>
          </a:xfrm>
          <a:prstGeom prst="rect">
            <a:avLst/>
          </a:prstGeom>
          <a:noFill/>
          <a:effectLst/>
        </p:spPr>
        <p:txBody>
          <a:bodyPr wrap="square" lIns="0" rIns="0" tIns="0" bIns="0" anchor="t">
            <a:spAutoFit/>
          </a:bodyPr>
          <a:lstStyle/>
          <a:p>
            <a:pPr algn="l">
              <a:spcAft>
                <a:spcPts val="200"/>
              </a:spcAft>
            </a:pPr>
            <a:r>
              <a:rPr sz="1250" b="1">
                <a:solidFill>
                  <a:srgbClr val="0B0F19"/>
                </a:solidFill>
                <a:latin typeface="Calibri"/>
              </a:rPr>
              <a:t>ChromaDB</a:t>
            </a:r>
          </a:p>
          <a:p>
            <a:pPr algn="l"/>
            <a:r>
              <a:rPr sz="1000" b="0">
                <a:solidFill>
                  <a:srgbClr val="4B5563"/>
                </a:solidFill>
                <a:latin typeface="Calibri"/>
              </a:rPr>
              <a:t>Vector store · all-MiniLM-L6-v2</a:t>
            </a:r>
          </a:p>
        </p:txBody>
      </p:sp>
      <p:sp>
        <p:nvSpPr>
          <p:cNvPr id="30" name="Rounded Rectangle 29"/>
          <p:cNvSpPr/>
          <p:nvPr/>
        </p:nvSpPr>
        <p:spPr>
          <a:xfrm>
            <a:off x="6285890" y="4937759"/>
            <a:ext cx="2427122" cy="822960"/>
          </a:xfrm>
          <a:prstGeom prst="roundRect">
            <a:avLst>
              <a:gd name="adj" fmla="val 44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TextBox 30"/>
          <p:cNvSpPr txBox="1"/>
          <p:nvPr/>
        </p:nvSpPr>
        <p:spPr>
          <a:xfrm>
            <a:off x="6468770" y="5084064"/>
            <a:ext cx="2061362" cy="475488"/>
          </a:xfrm>
          <a:prstGeom prst="rect">
            <a:avLst/>
          </a:prstGeom>
          <a:noFill/>
          <a:effectLst/>
        </p:spPr>
        <p:txBody>
          <a:bodyPr wrap="square" lIns="0" rIns="0" tIns="0" bIns="0" anchor="t">
            <a:spAutoFit/>
          </a:bodyPr>
          <a:lstStyle/>
          <a:p>
            <a:pPr algn="l">
              <a:spcAft>
                <a:spcPts val="200"/>
              </a:spcAft>
            </a:pPr>
            <a:r>
              <a:rPr sz="1250" b="1">
                <a:solidFill>
                  <a:srgbClr val="0B0F19"/>
                </a:solidFill>
                <a:latin typeface="Calibri"/>
              </a:rPr>
              <a:t>Ollama</a:t>
            </a:r>
          </a:p>
          <a:p>
            <a:pPr algn="l"/>
            <a:r>
              <a:rPr sz="1000" b="0">
                <a:solidFill>
                  <a:srgbClr val="4B5563"/>
                </a:solidFill>
                <a:latin typeface="Calibri"/>
              </a:rPr>
              <a:t>Qwen2.5-Coder 7B · local inference</a:t>
            </a:r>
          </a:p>
        </p:txBody>
      </p:sp>
      <p:sp>
        <p:nvSpPr>
          <p:cNvPr id="32" name="Rounded Rectangle 31"/>
          <p:cNvSpPr/>
          <p:nvPr/>
        </p:nvSpPr>
        <p:spPr>
          <a:xfrm>
            <a:off x="8914180" y="4937759"/>
            <a:ext cx="2427122" cy="822960"/>
          </a:xfrm>
          <a:prstGeom prst="roundRect">
            <a:avLst>
              <a:gd name="adj" fmla="val 44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9097060" y="5084064"/>
            <a:ext cx="2061362" cy="475488"/>
          </a:xfrm>
          <a:prstGeom prst="rect">
            <a:avLst/>
          </a:prstGeom>
          <a:noFill/>
          <a:effectLst/>
        </p:spPr>
        <p:txBody>
          <a:bodyPr wrap="square" lIns="0" rIns="0" tIns="0" bIns="0" anchor="t">
            <a:spAutoFit/>
          </a:bodyPr>
          <a:lstStyle/>
          <a:p>
            <a:pPr algn="l">
              <a:spcAft>
                <a:spcPts val="200"/>
              </a:spcAft>
            </a:pPr>
            <a:r>
              <a:rPr sz="1250" b="1">
                <a:solidFill>
                  <a:srgbClr val="0B0F19"/>
                </a:solidFill>
                <a:latin typeface="Calibri"/>
              </a:rPr>
              <a:t>PostgreSQL 15</a:t>
            </a:r>
          </a:p>
          <a:p>
            <a:pPr algn="l"/>
            <a:r>
              <a:rPr sz="1000" b="0">
                <a:solidFill>
                  <a:srgbClr val="4B5563"/>
                </a:solidFill>
                <a:latin typeface="Calibri"/>
              </a:rPr>
              <a:t>psycopg2 · read-only role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DEVELOPMENT APPROACH</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Six stages, with a self-correcting retry loop</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5</a:t>
            </a:r>
          </a:p>
        </p:txBody>
      </p:sp>
      <p:sp>
        <p:nvSpPr>
          <p:cNvPr id="7" name="Rounded Rectangle 6"/>
          <p:cNvSpPr/>
          <p:nvPr/>
        </p:nvSpPr>
        <p:spPr>
          <a:xfrm>
            <a:off x="594360" y="1645920"/>
            <a:ext cx="1589989" cy="2240280"/>
          </a:xfrm>
          <a:prstGeom prst="roundRect">
            <a:avLst>
              <a:gd name="adj" fmla="val 23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77240"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01</a:t>
            </a:r>
          </a:p>
        </p:txBody>
      </p:sp>
      <p:sp>
        <p:nvSpPr>
          <p:cNvPr id="9" name="TextBox 8"/>
          <p:cNvSpPr txBox="1"/>
          <p:nvPr/>
        </p:nvSpPr>
        <p:spPr>
          <a:xfrm>
            <a:off x="777240"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Ask</a:t>
            </a:r>
          </a:p>
        </p:txBody>
      </p:sp>
      <p:sp>
        <p:nvSpPr>
          <p:cNvPr id="10" name="TextBox 9"/>
          <p:cNvSpPr txBox="1"/>
          <p:nvPr/>
        </p:nvSpPr>
        <p:spPr>
          <a:xfrm>
            <a:off x="777240"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Question in plain English</a:t>
            </a:r>
          </a:p>
        </p:txBody>
      </p:sp>
      <p:sp>
        <p:nvSpPr>
          <p:cNvPr id="11" name="TextBox 10"/>
          <p:cNvSpPr txBox="1"/>
          <p:nvPr/>
        </p:nvSpPr>
        <p:spPr>
          <a:xfrm>
            <a:off x="777240"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natural language</a:t>
            </a:r>
          </a:p>
        </p:txBody>
      </p:sp>
      <p:sp>
        <p:nvSpPr>
          <p:cNvPr id="12" name="TextBox 11"/>
          <p:cNvSpPr txBox="1"/>
          <p:nvPr/>
        </p:nvSpPr>
        <p:spPr>
          <a:xfrm>
            <a:off x="2184349" y="1645920"/>
            <a:ext cx="292608" cy="22402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3" name="Rounded Rectangle 12"/>
          <p:cNvSpPr/>
          <p:nvPr/>
        </p:nvSpPr>
        <p:spPr>
          <a:xfrm>
            <a:off x="2476957" y="1645920"/>
            <a:ext cx="1589989" cy="2240280"/>
          </a:xfrm>
          <a:prstGeom prst="roundRect">
            <a:avLst>
              <a:gd name="adj" fmla="val 23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2659837"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02</a:t>
            </a:r>
          </a:p>
        </p:txBody>
      </p:sp>
      <p:sp>
        <p:nvSpPr>
          <p:cNvPr id="15" name="TextBox 14"/>
          <p:cNvSpPr txBox="1"/>
          <p:nvPr/>
        </p:nvSpPr>
        <p:spPr>
          <a:xfrm>
            <a:off x="2659837"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Retrieve</a:t>
            </a:r>
          </a:p>
        </p:txBody>
      </p:sp>
      <p:sp>
        <p:nvSpPr>
          <p:cNvPr id="16" name="TextBox 15"/>
          <p:cNvSpPr txBox="1"/>
          <p:nvPr/>
        </p:nvSpPr>
        <p:spPr>
          <a:xfrm>
            <a:off x="2659837"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Relevant tables via embeddings</a:t>
            </a:r>
          </a:p>
        </p:txBody>
      </p:sp>
      <p:sp>
        <p:nvSpPr>
          <p:cNvPr id="17" name="TextBox 16"/>
          <p:cNvSpPr txBox="1"/>
          <p:nvPr/>
        </p:nvSpPr>
        <p:spPr>
          <a:xfrm>
            <a:off x="2659837"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ChromaDB · top_k 5</a:t>
            </a:r>
          </a:p>
        </p:txBody>
      </p:sp>
      <p:sp>
        <p:nvSpPr>
          <p:cNvPr id="18" name="TextBox 17"/>
          <p:cNvSpPr txBox="1"/>
          <p:nvPr/>
        </p:nvSpPr>
        <p:spPr>
          <a:xfrm>
            <a:off x="4066946" y="1645920"/>
            <a:ext cx="292608" cy="22402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9" name="Rounded Rectangle 18"/>
          <p:cNvSpPr/>
          <p:nvPr/>
        </p:nvSpPr>
        <p:spPr>
          <a:xfrm>
            <a:off x="4359554" y="1645920"/>
            <a:ext cx="1589989" cy="2240280"/>
          </a:xfrm>
          <a:prstGeom prst="roundRect">
            <a:avLst>
              <a:gd name="adj" fmla="val 23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4542434"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03</a:t>
            </a:r>
          </a:p>
        </p:txBody>
      </p:sp>
      <p:sp>
        <p:nvSpPr>
          <p:cNvPr id="21" name="TextBox 20"/>
          <p:cNvSpPr txBox="1"/>
          <p:nvPr/>
        </p:nvSpPr>
        <p:spPr>
          <a:xfrm>
            <a:off x="4542434"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Generate</a:t>
            </a:r>
          </a:p>
        </p:txBody>
      </p:sp>
      <p:sp>
        <p:nvSpPr>
          <p:cNvPr id="22" name="TextBox 21"/>
          <p:cNvSpPr txBox="1"/>
          <p:nvPr/>
        </p:nvSpPr>
        <p:spPr>
          <a:xfrm>
            <a:off x="4542434"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PostgreSQL query written</a:t>
            </a:r>
          </a:p>
        </p:txBody>
      </p:sp>
      <p:sp>
        <p:nvSpPr>
          <p:cNvPr id="23" name="TextBox 22"/>
          <p:cNvSpPr txBox="1"/>
          <p:nvPr/>
        </p:nvSpPr>
        <p:spPr>
          <a:xfrm>
            <a:off x="4542434"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Qwen2.5-Coder 7B</a:t>
            </a:r>
          </a:p>
        </p:txBody>
      </p:sp>
      <p:sp>
        <p:nvSpPr>
          <p:cNvPr id="24" name="TextBox 23"/>
          <p:cNvSpPr txBox="1"/>
          <p:nvPr/>
        </p:nvSpPr>
        <p:spPr>
          <a:xfrm>
            <a:off x="5949543" y="1645920"/>
            <a:ext cx="292608" cy="22402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5" name="Rounded Rectangle 24"/>
          <p:cNvSpPr/>
          <p:nvPr/>
        </p:nvSpPr>
        <p:spPr>
          <a:xfrm>
            <a:off x="6242151" y="1645920"/>
            <a:ext cx="1589989" cy="2240280"/>
          </a:xfrm>
          <a:prstGeom prst="roundRect">
            <a:avLst>
              <a:gd name="adj" fmla="val 23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TextBox 25"/>
          <p:cNvSpPr txBox="1"/>
          <p:nvPr/>
        </p:nvSpPr>
        <p:spPr>
          <a:xfrm>
            <a:off x="6425031"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04</a:t>
            </a:r>
          </a:p>
        </p:txBody>
      </p:sp>
      <p:sp>
        <p:nvSpPr>
          <p:cNvPr id="27" name="TextBox 26"/>
          <p:cNvSpPr txBox="1"/>
          <p:nvPr/>
        </p:nvSpPr>
        <p:spPr>
          <a:xfrm>
            <a:off x="6425031"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Validate</a:t>
            </a:r>
          </a:p>
        </p:txBody>
      </p:sp>
      <p:sp>
        <p:nvSpPr>
          <p:cNvPr id="28" name="TextBox 27"/>
          <p:cNvSpPr txBox="1"/>
          <p:nvPr/>
        </p:nvSpPr>
        <p:spPr>
          <a:xfrm>
            <a:off x="6425031"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AST parsed, SELECT only</a:t>
            </a:r>
          </a:p>
        </p:txBody>
      </p:sp>
      <p:sp>
        <p:nvSpPr>
          <p:cNvPr id="29" name="TextBox 28"/>
          <p:cNvSpPr txBox="1"/>
          <p:nvPr/>
        </p:nvSpPr>
        <p:spPr>
          <a:xfrm>
            <a:off x="6425031"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sqlglot</a:t>
            </a:r>
          </a:p>
        </p:txBody>
      </p:sp>
      <p:sp>
        <p:nvSpPr>
          <p:cNvPr id="30" name="TextBox 29"/>
          <p:cNvSpPr txBox="1"/>
          <p:nvPr/>
        </p:nvSpPr>
        <p:spPr>
          <a:xfrm>
            <a:off x="7832140" y="1645920"/>
            <a:ext cx="292608" cy="22402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31" name="Rounded Rectangle 30"/>
          <p:cNvSpPr/>
          <p:nvPr/>
        </p:nvSpPr>
        <p:spPr>
          <a:xfrm>
            <a:off x="8124748" y="1645920"/>
            <a:ext cx="1589989" cy="2240280"/>
          </a:xfrm>
          <a:prstGeom prst="roundRect">
            <a:avLst>
              <a:gd name="adj" fmla="val 23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TextBox 31"/>
          <p:cNvSpPr txBox="1"/>
          <p:nvPr/>
        </p:nvSpPr>
        <p:spPr>
          <a:xfrm>
            <a:off x="8307628"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05</a:t>
            </a:r>
          </a:p>
        </p:txBody>
      </p:sp>
      <p:sp>
        <p:nvSpPr>
          <p:cNvPr id="33" name="TextBox 32"/>
          <p:cNvSpPr txBox="1"/>
          <p:nvPr/>
        </p:nvSpPr>
        <p:spPr>
          <a:xfrm>
            <a:off x="8307628"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Execute</a:t>
            </a:r>
          </a:p>
        </p:txBody>
      </p:sp>
      <p:sp>
        <p:nvSpPr>
          <p:cNvPr id="34" name="TextBox 33"/>
          <p:cNvSpPr txBox="1"/>
          <p:nvPr/>
        </p:nvSpPr>
        <p:spPr>
          <a:xfrm>
            <a:off x="8307628"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Read-only role runs it</a:t>
            </a:r>
          </a:p>
        </p:txBody>
      </p:sp>
      <p:sp>
        <p:nvSpPr>
          <p:cNvPr id="35" name="TextBox 34"/>
          <p:cNvSpPr txBox="1"/>
          <p:nvPr/>
        </p:nvSpPr>
        <p:spPr>
          <a:xfrm>
            <a:off x="8307628"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15s · 1000 rows</a:t>
            </a:r>
          </a:p>
        </p:txBody>
      </p:sp>
      <p:sp>
        <p:nvSpPr>
          <p:cNvPr id="36" name="TextBox 35"/>
          <p:cNvSpPr txBox="1"/>
          <p:nvPr/>
        </p:nvSpPr>
        <p:spPr>
          <a:xfrm>
            <a:off x="9714738" y="1645920"/>
            <a:ext cx="292608" cy="224028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37" name="Rounded Rectangle 36"/>
          <p:cNvSpPr/>
          <p:nvPr/>
        </p:nvSpPr>
        <p:spPr>
          <a:xfrm>
            <a:off x="10007346" y="1645920"/>
            <a:ext cx="1589989" cy="2240280"/>
          </a:xfrm>
          <a:prstGeom prst="roundRect">
            <a:avLst>
              <a:gd name="adj" fmla="val 23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TextBox 37"/>
          <p:cNvSpPr txBox="1"/>
          <p:nvPr/>
        </p:nvSpPr>
        <p:spPr>
          <a:xfrm>
            <a:off x="10190225" y="1847088"/>
            <a:ext cx="1224229" cy="274320"/>
          </a:xfrm>
          <a:prstGeom prst="rect">
            <a:avLst/>
          </a:prstGeom>
          <a:noFill/>
          <a:effectLst/>
        </p:spPr>
        <p:txBody>
          <a:bodyPr wrap="square" lIns="0" rIns="0" tIns="0" bIns="0" anchor="t">
            <a:spAutoFit/>
          </a:bodyPr>
          <a:lstStyle/>
          <a:p>
            <a:pPr algn="l"/>
            <a:r>
              <a:rPr sz="1900" b="1">
                <a:solidFill>
                  <a:srgbClr val="9AA3AF"/>
                </a:solidFill>
                <a:latin typeface="Georgia"/>
              </a:rPr>
              <a:t>06</a:t>
            </a:r>
          </a:p>
        </p:txBody>
      </p:sp>
      <p:sp>
        <p:nvSpPr>
          <p:cNvPr id="39" name="TextBox 38"/>
          <p:cNvSpPr txBox="1"/>
          <p:nvPr/>
        </p:nvSpPr>
        <p:spPr>
          <a:xfrm>
            <a:off x="10190225" y="2249424"/>
            <a:ext cx="1224229" cy="274320"/>
          </a:xfrm>
          <a:prstGeom prst="rect">
            <a:avLst/>
          </a:prstGeom>
          <a:noFill/>
          <a:effectLst/>
        </p:spPr>
        <p:txBody>
          <a:bodyPr wrap="square" lIns="0" rIns="0" tIns="0" bIns="0" anchor="t">
            <a:spAutoFit/>
          </a:bodyPr>
          <a:lstStyle/>
          <a:p>
            <a:pPr algn="l"/>
            <a:r>
              <a:rPr sz="1500" b="1">
                <a:solidFill>
                  <a:srgbClr val="0B0F19"/>
                </a:solidFill>
                <a:latin typeface="Calibri"/>
              </a:rPr>
              <a:t>Correct</a:t>
            </a:r>
          </a:p>
        </p:txBody>
      </p:sp>
      <p:sp>
        <p:nvSpPr>
          <p:cNvPr id="40" name="TextBox 39"/>
          <p:cNvSpPr txBox="1"/>
          <p:nvPr/>
        </p:nvSpPr>
        <p:spPr>
          <a:xfrm>
            <a:off x="10190225" y="2587752"/>
            <a:ext cx="1224229" cy="822960"/>
          </a:xfrm>
          <a:prstGeom prst="rect">
            <a:avLst/>
          </a:prstGeom>
          <a:noFill/>
          <a:effectLst/>
        </p:spPr>
        <p:txBody>
          <a:bodyPr wrap="square" lIns="0" rIns="0" tIns="0" bIns="0" anchor="t">
            <a:spAutoFit/>
          </a:bodyPr>
          <a:lstStyle/>
          <a:p>
            <a:pPr algn="l">
              <a:lnSpc>
                <a:spcPct val="105000"/>
              </a:lnSpc>
            </a:pPr>
            <a:r>
              <a:rPr sz="1150" b="0">
                <a:solidFill>
                  <a:srgbClr val="4B5563"/>
                </a:solidFill>
                <a:latin typeface="Calibri"/>
              </a:rPr>
              <a:t>DB error returned to model</a:t>
            </a:r>
          </a:p>
        </p:txBody>
      </p:sp>
      <p:sp>
        <p:nvSpPr>
          <p:cNvPr id="41" name="TextBox 40"/>
          <p:cNvSpPr txBox="1"/>
          <p:nvPr/>
        </p:nvSpPr>
        <p:spPr>
          <a:xfrm>
            <a:off x="10190225" y="3502152"/>
            <a:ext cx="1224229" cy="219456"/>
          </a:xfrm>
          <a:prstGeom prst="rect">
            <a:avLst/>
          </a:prstGeom>
          <a:noFill/>
          <a:effectLst/>
        </p:spPr>
        <p:txBody>
          <a:bodyPr wrap="square" lIns="0" rIns="0" tIns="0" bIns="0" anchor="t">
            <a:spAutoFit/>
          </a:bodyPr>
          <a:lstStyle/>
          <a:p>
            <a:pPr algn="l"/>
            <a:r>
              <a:rPr sz="950" b="0">
                <a:solidFill>
                  <a:srgbClr val="4338CA"/>
                </a:solidFill>
                <a:latin typeface="Consolas"/>
              </a:rPr>
              <a:t>max 3 attempts</a:t>
            </a:r>
          </a:p>
        </p:txBody>
      </p:sp>
      <p:sp>
        <p:nvSpPr>
          <p:cNvPr id="42" name="Left Arrow 41"/>
          <p:cNvSpPr/>
          <p:nvPr/>
        </p:nvSpPr>
        <p:spPr>
          <a:xfrm>
            <a:off x="4633874" y="4032504"/>
            <a:ext cx="6963460" cy="493776"/>
          </a:xfrm>
          <a:prstGeom prst="leftArrow">
            <a:avLst>
              <a:gd name="adj1" fmla="val 35000"/>
              <a:gd name="adj2" fmla="val 42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1">
                <a:solidFill>
                  <a:srgbClr val="4338CA"/>
                </a:solidFill>
                <a:latin typeface="Calibri"/>
              </a:rPr>
              <a:t>on failure, retry with the database error as context</a:t>
            </a:r>
          </a:p>
        </p:txBody>
      </p:sp>
      <p:sp>
        <p:nvSpPr>
          <p:cNvPr id="43" name="Rounded Rectangle 42"/>
          <p:cNvSpPr/>
          <p:nvPr/>
        </p:nvSpPr>
        <p:spPr>
          <a:xfrm>
            <a:off x="594360" y="4919472"/>
            <a:ext cx="2788920" cy="731520"/>
          </a:xfrm>
          <a:prstGeom prst="roundRect">
            <a:avLst>
              <a:gd name="adj" fmla="val 5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TextBox 43"/>
          <p:cNvSpPr txBox="1"/>
          <p:nvPr/>
        </p:nvSpPr>
        <p:spPr>
          <a:xfrm>
            <a:off x="813816" y="5120640"/>
            <a:ext cx="2377440" cy="310896"/>
          </a:xfrm>
          <a:prstGeom prst="rect">
            <a:avLst/>
          </a:prstGeom>
          <a:noFill/>
          <a:effectLst/>
        </p:spPr>
        <p:txBody>
          <a:bodyPr wrap="square" lIns="0" rIns="0" tIns="0" bIns="0" anchor="t">
            <a:spAutoFit/>
          </a:bodyPr>
          <a:lstStyle/>
          <a:p>
            <a:pPr algn="l"/>
            <a:r>
              <a:rPr sz="1500" b="1">
                <a:solidFill>
                  <a:srgbClr val="4338CA"/>
                </a:solidFill>
                <a:latin typeface="Calibri"/>
              </a:rPr>
              <a:t>Maximum 3 attempts</a:t>
            </a:r>
          </a:p>
        </p:txBody>
      </p:sp>
      <p:sp>
        <p:nvSpPr>
          <p:cNvPr id="45" name="TextBox 44"/>
          <p:cNvSpPr txBox="1"/>
          <p:nvPr/>
        </p:nvSpPr>
        <p:spPr>
          <a:xfrm>
            <a:off x="3657600" y="5166360"/>
            <a:ext cx="5486400" cy="274320"/>
          </a:xfrm>
          <a:prstGeom prst="rect">
            <a:avLst/>
          </a:prstGeom>
          <a:noFill/>
          <a:effectLst/>
        </p:spPr>
        <p:txBody>
          <a:bodyPr wrap="square" lIns="0" rIns="0" tIns="0" bIns="0" anchor="t">
            <a:spAutoFit/>
          </a:bodyPr>
          <a:lstStyle/>
          <a:p>
            <a:pPr algn="l"/>
            <a:r>
              <a:rPr sz="1150" b="0">
                <a:solidFill>
                  <a:srgbClr val="4B5563"/>
                </a:solidFill>
                <a:latin typeface="Calibri"/>
              </a:rPr>
              <a:t>Bounded latency, no infinite loops.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FEATURES</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Everything an analyst needs, in one answer</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6</a:t>
            </a:r>
          </a:p>
        </p:txBody>
      </p:sp>
      <p:sp>
        <p:nvSpPr>
          <p:cNvPr id="7" name="Rounded Rectangle 6"/>
          <p:cNvSpPr/>
          <p:nvPr/>
        </p:nvSpPr>
        <p:spPr>
          <a:xfrm>
            <a:off x="594360" y="162763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95528" y="182880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Natural Language Queries</a:t>
            </a:r>
          </a:p>
        </p:txBody>
      </p:sp>
      <p:sp>
        <p:nvSpPr>
          <p:cNvPr id="9" name="TextBox 8"/>
          <p:cNvSpPr txBox="1"/>
          <p:nvPr/>
        </p:nvSpPr>
        <p:spPr>
          <a:xfrm>
            <a:off x="795528" y="215798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Ask in plain English, no SQL.</a:t>
            </a:r>
          </a:p>
        </p:txBody>
      </p:sp>
      <p:sp>
        <p:nvSpPr>
          <p:cNvPr id="10" name="Rounded Rectangle 9"/>
          <p:cNvSpPr/>
          <p:nvPr/>
        </p:nvSpPr>
        <p:spPr>
          <a:xfrm>
            <a:off x="4069080" y="162763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4270248" y="182880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Semantic Schema Retrieval</a:t>
            </a:r>
          </a:p>
        </p:txBody>
      </p:sp>
      <p:sp>
        <p:nvSpPr>
          <p:cNvPr id="12" name="TextBox 11"/>
          <p:cNvSpPr txBox="1"/>
          <p:nvPr/>
        </p:nvSpPr>
        <p:spPr>
          <a:xfrm>
            <a:off x="4270248" y="215798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Only relevant tables reach the model.</a:t>
            </a:r>
          </a:p>
        </p:txBody>
      </p:sp>
      <p:sp>
        <p:nvSpPr>
          <p:cNvPr id="13" name="Rounded Rectangle 12"/>
          <p:cNvSpPr/>
          <p:nvPr/>
        </p:nvSpPr>
        <p:spPr>
          <a:xfrm>
            <a:off x="594360" y="281635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795528" y="301752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Self-Correcting SQL</a:t>
            </a:r>
          </a:p>
        </p:txBody>
      </p:sp>
      <p:sp>
        <p:nvSpPr>
          <p:cNvPr id="15" name="TextBox 14"/>
          <p:cNvSpPr txBox="1"/>
          <p:nvPr/>
        </p:nvSpPr>
        <p:spPr>
          <a:xfrm>
            <a:off x="795528" y="334670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Database errors drive automatic retries.</a:t>
            </a:r>
          </a:p>
        </p:txBody>
      </p:sp>
      <p:sp>
        <p:nvSpPr>
          <p:cNvPr id="16" name="Rounded Rectangle 15"/>
          <p:cNvSpPr/>
          <p:nvPr/>
        </p:nvSpPr>
        <p:spPr>
          <a:xfrm>
            <a:off x="4069080" y="281635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4270248" y="301752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SQL Safety</a:t>
            </a:r>
          </a:p>
        </p:txBody>
      </p:sp>
      <p:sp>
        <p:nvSpPr>
          <p:cNvPr id="18" name="TextBox 17"/>
          <p:cNvSpPr txBox="1"/>
          <p:nvPr/>
        </p:nvSpPr>
        <p:spPr>
          <a:xfrm>
            <a:off x="4270248" y="334670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AST validation and a read-only role.</a:t>
            </a:r>
          </a:p>
        </p:txBody>
      </p:sp>
      <p:sp>
        <p:nvSpPr>
          <p:cNvPr id="19" name="Rounded Rectangle 18"/>
          <p:cNvSpPr/>
          <p:nvPr/>
        </p:nvSpPr>
        <p:spPr>
          <a:xfrm>
            <a:off x="594360" y="400507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795528" y="420624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Real-Time Experience</a:t>
            </a:r>
          </a:p>
        </p:txBody>
      </p:sp>
      <p:sp>
        <p:nvSpPr>
          <p:cNvPr id="21" name="TextBox 20"/>
          <p:cNvSpPr txBox="1"/>
          <p:nvPr/>
        </p:nvSpPr>
        <p:spPr>
          <a:xfrm>
            <a:off x="795528" y="453542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Server-Sent Events stream the answer.</a:t>
            </a:r>
          </a:p>
        </p:txBody>
      </p:sp>
      <p:sp>
        <p:nvSpPr>
          <p:cNvPr id="22" name="Rounded Rectangle 21"/>
          <p:cNvSpPr/>
          <p:nvPr/>
        </p:nvSpPr>
        <p:spPr>
          <a:xfrm>
            <a:off x="4069080" y="4005072"/>
            <a:ext cx="3246120" cy="1051560"/>
          </a:xfrm>
          <a:prstGeom prst="roundRect">
            <a:avLst>
              <a:gd name="adj" fmla="val 3478"/>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4270248" y="4206240"/>
            <a:ext cx="2843784" cy="256032"/>
          </a:xfrm>
          <a:prstGeom prst="rect">
            <a:avLst/>
          </a:prstGeom>
          <a:noFill/>
          <a:effectLst/>
        </p:spPr>
        <p:txBody>
          <a:bodyPr wrap="square" lIns="0" rIns="0" tIns="0" bIns="0" anchor="t">
            <a:spAutoFit/>
          </a:bodyPr>
          <a:lstStyle/>
          <a:p>
            <a:pPr algn="l"/>
            <a:r>
              <a:rPr sz="1300" b="1">
                <a:solidFill>
                  <a:srgbClr val="0B0F19"/>
                </a:solidFill>
                <a:latin typeface="Calibri"/>
              </a:rPr>
              <a:t>Data Visualization</a:t>
            </a:r>
          </a:p>
        </p:txBody>
      </p:sp>
      <p:sp>
        <p:nvSpPr>
          <p:cNvPr id="24" name="TextBox 23"/>
          <p:cNvSpPr txBox="1"/>
          <p:nvPr/>
        </p:nvSpPr>
        <p:spPr>
          <a:xfrm>
            <a:off x="4270248" y="4535424"/>
            <a:ext cx="2843784" cy="411480"/>
          </a:xfrm>
          <a:prstGeom prst="rect">
            <a:avLst/>
          </a:prstGeom>
          <a:noFill/>
          <a:effectLst/>
        </p:spPr>
        <p:txBody>
          <a:bodyPr wrap="square" lIns="0" rIns="0" tIns="0" bIns="0" anchor="t">
            <a:spAutoFit/>
          </a:bodyPr>
          <a:lstStyle/>
          <a:p>
            <a:pPr algn="l">
              <a:lnSpc>
                <a:spcPct val="105000"/>
              </a:lnSpc>
            </a:pPr>
            <a:r>
              <a:rPr sz="1100" b="0">
                <a:solidFill>
                  <a:srgbClr val="4B5563"/>
                </a:solidFill>
                <a:latin typeface="Calibri"/>
              </a:rPr>
              <a:t>Results table plus automatic charts.</a:t>
            </a:r>
          </a:p>
        </p:txBody>
      </p:sp>
      <p:sp>
        <p:nvSpPr>
          <p:cNvPr id="25" name="Rounded Rectangle 24"/>
          <p:cNvSpPr/>
          <p:nvPr/>
        </p:nvSpPr>
        <p:spPr>
          <a:xfrm>
            <a:off x="594360" y="5303520"/>
            <a:ext cx="1556766" cy="4572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Voice Input</a:t>
            </a:r>
          </a:p>
        </p:txBody>
      </p:sp>
      <p:sp>
        <p:nvSpPr>
          <p:cNvPr id="26" name="Rounded Rectangle 25"/>
          <p:cNvSpPr/>
          <p:nvPr/>
        </p:nvSpPr>
        <p:spPr>
          <a:xfrm>
            <a:off x="2315718" y="5303520"/>
            <a:ext cx="1556766" cy="4572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Query History</a:t>
            </a:r>
          </a:p>
        </p:txBody>
      </p:sp>
      <p:sp>
        <p:nvSpPr>
          <p:cNvPr id="27" name="Rounded Rectangle 26"/>
          <p:cNvSpPr/>
          <p:nvPr/>
        </p:nvSpPr>
        <p:spPr>
          <a:xfrm>
            <a:off x="4037076" y="5303520"/>
            <a:ext cx="1556766" cy="4572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Follow-ups</a:t>
            </a:r>
          </a:p>
        </p:txBody>
      </p:sp>
      <p:sp>
        <p:nvSpPr>
          <p:cNvPr id="28" name="Rounded Rectangle 27"/>
          <p:cNvSpPr/>
          <p:nvPr/>
        </p:nvSpPr>
        <p:spPr>
          <a:xfrm>
            <a:off x="5758433" y="5303520"/>
            <a:ext cx="1556766" cy="457200"/>
          </a:xfrm>
          <a:prstGeom prst="roundRect">
            <a:avLst>
              <a:gd name="adj" fmla="val 6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0" bIns="0"/>
          <a:lstStyle/>
          <a:p>
            <a:pPr algn="ctr"/>
            <a:r>
              <a:rPr sz="1000" b="0">
                <a:solidFill>
                  <a:srgbClr val="4B5563"/>
                </a:solidFill>
                <a:latin typeface="Calibri"/>
              </a:rPr>
              <a:t>Dark / Light</a:t>
            </a:r>
          </a:p>
        </p:txBody>
      </p:sp>
      <p:sp>
        <p:nvSpPr>
          <p:cNvPr id="29" name="Rounded Rectangle 28"/>
          <p:cNvSpPr/>
          <p:nvPr/>
        </p:nvSpPr>
        <p:spPr>
          <a:xfrm>
            <a:off x="7543800" y="1627632"/>
            <a:ext cx="4053535" cy="4133087"/>
          </a:xfrm>
          <a:prstGeom prst="roundRect">
            <a:avLst>
              <a:gd name="adj" fmla="val 902"/>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7781544" y="1828800"/>
            <a:ext cx="3578047" cy="420624"/>
          </a:xfrm>
          <a:prstGeom prst="rect">
            <a:avLst/>
          </a:prstGeom>
          <a:noFill/>
          <a:effectLst/>
        </p:spPr>
        <p:txBody>
          <a:bodyPr wrap="square" lIns="0" rIns="0" tIns="0" bIns="0" anchor="t">
            <a:spAutoFit/>
          </a:bodyPr>
          <a:lstStyle/>
          <a:p>
            <a:pPr algn="l">
              <a:spcAft>
                <a:spcPts val="200"/>
              </a:spcAft>
            </a:pPr>
            <a:r>
              <a:rPr sz="1500" b="1">
                <a:solidFill>
                  <a:srgbClr val="0B0F19"/>
                </a:solidFill>
                <a:latin typeface="Calibri"/>
              </a:rPr>
              <a:t>Indexed demo warehouse</a:t>
            </a:r>
          </a:p>
          <a:p>
            <a:pPr algn="l"/>
            <a:r>
              <a:rPr sz="1000" b="0">
                <a:solidFill>
                  <a:srgbClr val="9AA3AF"/>
                </a:solidFill>
                <a:latin typeface="Calibri"/>
              </a:rPr>
              <a:t>Seeded PostgreSQL 15 dataset</a:t>
            </a:r>
          </a:p>
        </p:txBody>
      </p:sp>
      <p:graphicFrame>
        <p:nvGraphicFramePr>
          <p:cNvPr id="31" name="Chart 30"/>
          <p:cNvGraphicFramePr>
            <a:graphicFrameLocks noGrp="1"/>
          </p:cNvGraphicFramePr>
          <p:nvPr/>
        </p:nvGraphicFramePr>
        <p:xfrm>
          <a:off x="7708392" y="2487168"/>
          <a:ext cx="3504895" cy="301752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DEVELOPMENT APPROACH</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Four layers between the model and your data</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7</a:t>
            </a:r>
          </a:p>
        </p:txBody>
      </p:sp>
      <p:sp>
        <p:nvSpPr>
          <p:cNvPr id="7" name="Rounded Rectangle 6"/>
          <p:cNvSpPr/>
          <p:nvPr/>
        </p:nvSpPr>
        <p:spPr>
          <a:xfrm>
            <a:off x="594360" y="1783080"/>
            <a:ext cx="6903720" cy="731520"/>
          </a:xfrm>
          <a:prstGeom prst="roundRect">
            <a:avLst>
              <a:gd name="adj" fmla="val 5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813816" y="2057400"/>
            <a:ext cx="457200" cy="201168"/>
          </a:xfrm>
          <a:prstGeom prst="rect">
            <a:avLst/>
          </a:prstGeom>
          <a:noFill/>
          <a:effectLst/>
        </p:spPr>
        <p:txBody>
          <a:bodyPr wrap="square" lIns="0" rIns="0" tIns="0" bIns="0" anchor="t">
            <a:spAutoFit/>
          </a:bodyPr>
          <a:lstStyle/>
          <a:p>
            <a:pPr algn="l"/>
            <a:r>
              <a:rPr sz="1000" b="1">
                <a:solidFill>
                  <a:srgbClr val="9AA3AF"/>
                </a:solidFill>
                <a:latin typeface="Calibri"/>
              </a:rPr>
              <a:t>01</a:t>
            </a:r>
          </a:p>
        </p:txBody>
      </p:sp>
      <p:sp>
        <p:nvSpPr>
          <p:cNvPr id="9" name="TextBox 8"/>
          <p:cNvSpPr txBox="1"/>
          <p:nvPr/>
        </p:nvSpPr>
        <p:spPr>
          <a:xfrm>
            <a:off x="1307592" y="1938528"/>
            <a:ext cx="5989320"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AST Validation</a:t>
            </a:r>
          </a:p>
          <a:p>
            <a:pPr algn="l"/>
            <a:r>
              <a:rPr sz="1050" b="0">
                <a:solidFill>
                  <a:srgbClr val="4B5563"/>
                </a:solidFill>
                <a:latin typeface="Calibri"/>
              </a:rPr>
              <a:t>Only SELECT queries accepted</a:t>
            </a:r>
          </a:p>
        </p:txBody>
      </p:sp>
      <p:sp>
        <p:nvSpPr>
          <p:cNvPr id="10" name="TextBox 9"/>
          <p:cNvSpPr txBox="1"/>
          <p:nvPr/>
        </p:nvSpPr>
        <p:spPr>
          <a:xfrm>
            <a:off x="594360" y="2514600"/>
            <a:ext cx="6903720" cy="164592"/>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1" name="Rounded Rectangle 10"/>
          <p:cNvSpPr/>
          <p:nvPr/>
        </p:nvSpPr>
        <p:spPr>
          <a:xfrm>
            <a:off x="1005840" y="2679191"/>
            <a:ext cx="6080759"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1225296" y="2953511"/>
            <a:ext cx="457200" cy="201168"/>
          </a:xfrm>
          <a:prstGeom prst="rect">
            <a:avLst/>
          </a:prstGeom>
          <a:noFill/>
          <a:effectLst/>
        </p:spPr>
        <p:txBody>
          <a:bodyPr wrap="square" lIns="0" rIns="0" tIns="0" bIns="0" anchor="t">
            <a:spAutoFit/>
          </a:bodyPr>
          <a:lstStyle/>
          <a:p>
            <a:pPr algn="l"/>
            <a:r>
              <a:rPr sz="1000" b="1">
                <a:solidFill>
                  <a:srgbClr val="9AA3AF"/>
                </a:solidFill>
                <a:latin typeface="Calibri"/>
              </a:rPr>
              <a:t>02</a:t>
            </a:r>
          </a:p>
        </p:txBody>
      </p:sp>
      <p:sp>
        <p:nvSpPr>
          <p:cNvPr id="13" name="TextBox 12"/>
          <p:cNvSpPr txBox="1"/>
          <p:nvPr/>
        </p:nvSpPr>
        <p:spPr>
          <a:xfrm>
            <a:off x="1719072" y="2834639"/>
            <a:ext cx="5166359"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Read-Only Database Role</a:t>
            </a:r>
          </a:p>
          <a:p>
            <a:pPr algn="l"/>
            <a:r>
              <a:rPr sz="1050" b="0">
                <a:solidFill>
                  <a:srgbClr val="4B5563"/>
                </a:solidFill>
                <a:latin typeface="Calibri"/>
              </a:rPr>
              <a:t>The LLM cannot modify data</a:t>
            </a:r>
          </a:p>
        </p:txBody>
      </p:sp>
      <p:sp>
        <p:nvSpPr>
          <p:cNvPr id="14" name="TextBox 13"/>
          <p:cNvSpPr txBox="1"/>
          <p:nvPr/>
        </p:nvSpPr>
        <p:spPr>
          <a:xfrm>
            <a:off x="594360" y="3410711"/>
            <a:ext cx="6903720" cy="164592"/>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5" name="Rounded Rectangle 14"/>
          <p:cNvSpPr/>
          <p:nvPr/>
        </p:nvSpPr>
        <p:spPr>
          <a:xfrm>
            <a:off x="1417319" y="3575304"/>
            <a:ext cx="5257800"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1636775" y="3849624"/>
            <a:ext cx="457200" cy="201168"/>
          </a:xfrm>
          <a:prstGeom prst="rect">
            <a:avLst/>
          </a:prstGeom>
          <a:noFill/>
          <a:effectLst/>
        </p:spPr>
        <p:txBody>
          <a:bodyPr wrap="square" lIns="0" rIns="0" tIns="0" bIns="0" anchor="t">
            <a:spAutoFit/>
          </a:bodyPr>
          <a:lstStyle/>
          <a:p>
            <a:pPr algn="l"/>
            <a:r>
              <a:rPr sz="1000" b="1">
                <a:solidFill>
                  <a:srgbClr val="9AA3AF"/>
                </a:solidFill>
                <a:latin typeface="Calibri"/>
              </a:rPr>
              <a:t>03</a:t>
            </a:r>
          </a:p>
        </p:txBody>
      </p:sp>
      <p:sp>
        <p:nvSpPr>
          <p:cNvPr id="17" name="TextBox 16"/>
          <p:cNvSpPr txBox="1"/>
          <p:nvPr/>
        </p:nvSpPr>
        <p:spPr>
          <a:xfrm>
            <a:off x="2130552" y="3730752"/>
            <a:ext cx="4343400"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Resource Limits</a:t>
            </a:r>
          </a:p>
          <a:p>
            <a:pPr algn="l"/>
            <a:r>
              <a:rPr sz="1050" b="0">
                <a:solidFill>
                  <a:srgbClr val="4B5563"/>
                </a:solidFill>
                <a:latin typeface="Calibri"/>
              </a:rPr>
              <a:t>15-second query timeout</a:t>
            </a:r>
          </a:p>
        </p:txBody>
      </p:sp>
      <p:sp>
        <p:nvSpPr>
          <p:cNvPr id="18" name="TextBox 17"/>
          <p:cNvSpPr txBox="1"/>
          <p:nvPr/>
        </p:nvSpPr>
        <p:spPr>
          <a:xfrm>
            <a:off x="594360" y="4306824"/>
            <a:ext cx="6903720" cy="164592"/>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9" name="Rounded Rectangle 18"/>
          <p:cNvSpPr/>
          <p:nvPr/>
        </p:nvSpPr>
        <p:spPr>
          <a:xfrm>
            <a:off x="1828800" y="4471416"/>
            <a:ext cx="4434840"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2048256" y="4745736"/>
            <a:ext cx="457200" cy="201168"/>
          </a:xfrm>
          <a:prstGeom prst="rect">
            <a:avLst/>
          </a:prstGeom>
          <a:noFill/>
          <a:effectLst/>
        </p:spPr>
        <p:txBody>
          <a:bodyPr wrap="square" lIns="0" rIns="0" tIns="0" bIns="0" anchor="t">
            <a:spAutoFit/>
          </a:bodyPr>
          <a:lstStyle/>
          <a:p>
            <a:pPr algn="l"/>
            <a:r>
              <a:rPr sz="1000" b="1">
                <a:solidFill>
                  <a:srgbClr val="9AA3AF"/>
                </a:solidFill>
                <a:latin typeface="Calibri"/>
              </a:rPr>
              <a:t>04</a:t>
            </a:r>
          </a:p>
        </p:txBody>
      </p:sp>
      <p:sp>
        <p:nvSpPr>
          <p:cNvPr id="21" name="TextBox 20"/>
          <p:cNvSpPr txBox="1"/>
          <p:nvPr/>
        </p:nvSpPr>
        <p:spPr>
          <a:xfrm>
            <a:off x="2542032" y="4626864"/>
            <a:ext cx="3520439"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Result Protection</a:t>
            </a:r>
          </a:p>
          <a:p>
            <a:pPr algn="l"/>
            <a:r>
              <a:rPr sz="1050" b="0">
                <a:solidFill>
                  <a:srgbClr val="4B5563"/>
                </a:solidFill>
                <a:latin typeface="Calibri"/>
              </a:rPr>
              <a:t>Maximum 1000 rows returned</a:t>
            </a:r>
          </a:p>
        </p:txBody>
      </p:sp>
      <p:sp>
        <p:nvSpPr>
          <p:cNvPr id="22" name="Rounded Rectangle 21"/>
          <p:cNvSpPr/>
          <p:nvPr/>
        </p:nvSpPr>
        <p:spPr>
          <a:xfrm>
            <a:off x="7818119" y="1783080"/>
            <a:ext cx="3779215" cy="3502152"/>
          </a:xfrm>
          <a:prstGeom prst="roundRect">
            <a:avLst>
              <a:gd name="adj" fmla="val 1044"/>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8074151" y="2029968"/>
            <a:ext cx="3267151" cy="310896"/>
          </a:xfrm>
          <a:prstGeom prst="rect">
            <a:avLst/>
          </a:prstGeom>
          <a:noFill/>
          <a:effectLst/>
        </p:spPr>
        <p:txBody>
          <a:bodyPr wrap="square" lIns="0" rIns="0" tIns="0" bIns="0" anchor="t">
            <a:spAutoFit/>
          </a:bodyPr>
          <a:lstStyle/>
          <a:p>
            <a:pPr algn="l"/>
            <a:r>
              <a:rPr sz="1500" b="1">
                <a:solidFill>
                  <a:srgbClr val="0B0F19"/>
                </a:solidFill>
                <a:latin typeface="Calibri"/>
              </a:rPr>
              <a:t>Fully Local Architecture</a:t>
            </a:r>
          </a:p>
        </p:txBody>
      </p:sp>
      <p:sp>
        <p:nvSpPr>
          <p:cNvPr id="24" name="Rectangle 23"/>
          <p:cNvSpPr/>
          <p:nvPr/>
        </p:nvSpPr>
        <p:spPr>
          <a:xfrm>
            <a:off x="8074151" y="2487168"/>
            <a:ext cx="3267151" cy="12801"/>
          </a:xfrm>
          <a:prstGeom prst="rect">
            <a:avLst/>
          </a:prstGeom>
          <a:solidFill>
            <a:srgbClr val="E4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74151" y="2752344"/>
            <a:ext cx="91440" cy="91440"/>
          </a:xfrm>
          <a:prstGeom prst="roundRect">
            <a:avLst>
              <a:gd name="adj" fmla="val 2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TextBox 25"/>
          <p:cNvSpPr txBox="1"/>
          <p:nvPr/>
        </p:nvSpPr>
        <p:spPr>
          <a:xfrm>
            <a:off x="8321040" y="2697480"/>
            <a:ext cx="3001975" cy="274320"/>
          </a:xfrm>
          <a:prstGeom prst="rect">
            <a:avLst/>
          </a:prstGeom>
          <a:noFill/>
          <a:effectLst/>
        </p:spPr>
        <p:txBody>
          <a:bodyPr wrap="square" lIns="0" rIns="0" tIns="0" bIns="0" anchor="t">
            <a:spAutoFit/>
          </a:bodyPr>
          <a:lstStyle/>
          <a:p>
            <a:pPr algn="l"/>
            <a:r>
              <a:rPr sz="1150" b="0">
                <a:solidFill>
                  <a:srgbClr val="4B5563"/>
                </a:solidFill>
                <a:latin typeface="Calibri"/>
              </a:rPr>
              <a:t>No external LLM API</a:t>
            </a:r>
          </a:p>
        </p:txBody>
      </p:sp>
      <p:sp>
        <p:nvSpPr>
          <p:cNvPr id="27" name="Rounded Rectangle 26"/>
          <p:cNvSpPr/>
          <p:nvPr/>
        </p:nvSpPr>
        <p:spPr>
          <a:xfrm>
            <a:off x="8074151" y="3227832"/>
            <a:ext cx="91440" cy="91440"/>
          </a:xfrm>
          <a:prstGeom prst="roundRect">
            <a:avLst>
              <a:gd name="adj" fmla="val 2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8321040" y="3172968"/>
            <a:ext cx="3001975" cy="274320"/>
          </a:xfrm>
          <a:prstGeom prst="rect">
            <a:avLst/>
          </a:prstGeom>
          <a:noFill/>
          <a:effectLst/>
        </p:spPr>
        <p:txBody>
          <a:bodyPr wrap="square" lIns="0" rIns="0" tIns="0" bIns="0" anchor="t">
            <a:spAutoFit/>
          </a:bodyPr>
          <a:lstStyle/>
          <a:p>
            <a:pPr algn="l"/>
            <a:r>
              <a:rPr sz="1150" b="0">
                <a:solidFill>
                  <a:srgbClr val="4B5563"/>
                </a:solidFill>
                <a:latin typeface="Calibri"/>
              </a:rPr>
              <a:t>No data sent to the cloud</a:t>
            </a:r>
          </a:p>
        </p:txBody>
      </p:sp>
      <p:sp>
        <p:nvSpPr>
          <p:cNvPr id="29" name="Rounded Rectangle 28"/>
          <p:cNvSpPr/>
          <p:nvPr/>
        </p:nvSpPr>
        <p:spPr>
          <a:xfrm>
            <a:off x="8074151" y="3703320"/>
            <a:ext cx="91440" cy="91440"/>
          </a:xfrm>
          <a:prstGeom prst="roundRect">
            <a:avLst>
              <a:gd name="adj" fmla="val 20000"/>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8321040" y="3648456"/>
            <a:ext cx="3001975" cy="274320"/>
          </a:xfrm>
          <a:prstGeom prst="rect">
            <a:avLst/>
          </a:prstGeom>
          <a:noFill/>
          <a:effectLst/>
        </p:spPr>
        <p:txBody>
          <a:bodyPr wrap="square" lIns="0" rIns="0" tIns="0" bIns="0" anchor="t">
            <a:spAutoFit/>
          </a:bodyPr>
          <a:lstStyle/>
          <a:p>
            <a:pPr algn="l"/>
            <a:r>
              <a:rPr sz="1150" b="0">
                <a:solidFill>
                  <a:srgbClr val="4B5563"/>
                </a:solidFill>
                <a:latin typeface="Calibri"/>
              </a:rPr>
              <a:t>Operates offline after setup</a:t>
            </a:r>
          </a:p>
        </p:txBody>
      </p:sp>
      <p:sp>
        <p:nvSpPr>
          <p:cNvPr id="31" name="TextBox 30"/>
          <p:cNvSpPr txBox="1"/>
          <p:nvPr/>
        </p:nvSpPr>
        <p:spPr>
          <a:xfrm>
            <a:off x="8074151" y="4434840"/>
            <a:ext cx="3267151" cy="548640"/>
          </a:xfrm>
          <a:prstGeom prst="rect">
            <a:avLst/>
          </a:prstGeom>
          <a:noFill/>
          <a:effectLst/>
        </p:spPr>
        <p:txBody>
          <a:bodyPr wrap="square" lIns="0" rIns="0" tIns="0" bIns="0" anchor="t">
            <a:spAutoFit/>
          </a:bodyPr>
          <a:lstStyle/>
          <a:p>
            <a:pPr algn="l">
              <a:spcAft>
                <a:spcPts val="100"/>
              </a:spcAft>
            </a:pPr>
            <a:r>
              <a:rPr sz="1300" b="1">
                <a:solidFill>
                  <a:srgbClr val="4338CA"/>
                </a:solidFill>
                <a:latin typeface="Georgia"/>
              </a:rPr>
              <a:t>Private by construction,</a:t>
            </a:r>
          </a:p>
          <a:p>
            <a:pPr algn="l"/>
            <a:r>
              <a:rPr sz="1300" b="1">
                <a:solidFill>
                  <a:srgbClr val="4338CA"/>
                </a:solidFill>
                <a:latin typeface="Georgia"/>
              </a:rPr>
              <a:t>not by configuration.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CHALLENGES FACED</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The hard parts, and how they were solved</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8</a:t>
            </a:r>
          </a:p>
        </p:txBody>
      </p:sp>
      <p:sp>
        <p:nvSpPr>
          <p:cNvPr id="7" name="TextBox 6"/>
          <p:cNvSpPr txBox="1"/>
          <p:nvPr/>
        </p:nvSpPr>
        <p:spPr>
          <a:xfrm>
            <a:off x="594360" y="1572768"/>
            <a:ext cx="5387187" cy="219456"/>
          </a:xfrm>
          <a:prstGeom prst="rect">
            <a:avLst/>
          </a:prstGeom>
          <a:noFill/>
          <a:effectLst/>
        </p:spPr>
        <p:txBody>
          <a:bodyPr wrap="square" lIns="0" rIns="0" tIns="0" bIns="0" anchor="t">
            <a:spAutoFit/>
          </a:bodyPr>
          <a:lstStyle/>
          <a:p>
            <a:pPr algn="l"/>
            <a:r>
              <a:rPr sz="950" b="1" spc="150">
                <a:solidFill>
                  <a:srgbClr val="9AA3AF"/>
                </a:solidFill>
                <a:latin typeface="Calibri"/>
              </a:rPr>
              <a:t>TECHNICAL</a:t>
            </a:r>
          </a:p>
        </p:txBody>
      </p:sp>
      <p:sp>
        <p:nvSpPr>
          <p:cNvPr id="8" name="TextBox 7"/>
          <p:cNvSpPr txBox="1"/>
          <p:nvPr/>
        </p:nvSpPr>
        <p:spPr>
          <a:xfrm>
            <a:off x="6210147" y="1572768"/>
            <a:ext cx="5387187" cy="219456"/>
          </a:xfrm>
          <a:prstGeom prst="rect">
            <a:avLst/>
          </a:prstGeom>
          <a:noFill/>
          <a:effectLst/>
        </p:spPr>
        <p:txBody>
          <a:bodyPr wrap="square" lIns="0" rIns="0" tIns="0" bIns="0" anchor="t">
            <a:spAutoFit/>
          </a:bodyPr>
          <a:lstStyle/>
          <a:p>
            <a:pPr algn="l"/>
            <a:r>
              <a:rPr sz="950" b="1" spc="150">
                <a:solidFill>
                  <a:srgbClr val="9AA3AF"/>
                </a:solidFill>
                <a:latin typeface="Calibri"/>
              </a:rPr>
              <a:t>PRACTICAL</a:t>
            </a:r>
          </a:p>
        </p:txBody>
      </p:sp>
      <p:sp>
        <p:nvSpPr>
          <p:cNvPr id="9" name="Rounded Rectangle 8"/>
          <p:cNvSpPr/>
          <p:nvPr/>
        </p:nvSpPr>
        <p:spPr>
          <a:xfrm>
            <a:off x="594360" y="1920240"/>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813816" y="2084832"/>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Small LLM invented column names</a:t>
            </a:r>
          </a:p>
        </p:txBody>
      </p:sp>
      <p:sp>
        <p:nvSpPr>
          <p:cNvPr id="11" name="TextBox 10"/>
          <p:cNvSpPr txBox="1"/>
          <p:nvPr/>
        </p:nvSpPr>
        <p:spPr>
          <a:xfrm>
            <a:off x="813816" y="2377440"/>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Schema retrieval, strict prompts, error-feedback retries</a:t>
            </a:r>
          </a:p>
        </p:txBody>
      </p:sp>
      <p:sp>
        <p:nvSpPr>
          <p:cNvPr id="12" name="Rounded Rectangle 11"/>
          <p:cNvSpPr/>
          <p:nvPr/>
        </p:nvSpPr>
        <p:spPr>
          <a:xfrm>
            <a:off x="594360" y="2953512"/>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13816" y="3118104"/>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EventSource cannot stream a POST</a:t>
            </a:r>
          </a:p>
        </p:txBody>
      </p:sp>
      <p:sp>
        <p:nvSpPr>
          <p:cNvPr id="14" name="TextBox 13"/>
          <p:cNvSpPr txBox="1"/>
          <p:nvPr/>
        </p:nvSpPr>
        <p:spPr>
          <a:xfrm>
            <a:off x="813816" y="3410712"/>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Fetch with a ReadableStream reader instead</a:t>
            </a:r>
          </a:p>
        </p:txBody>
      </p:sp>
      <p:sp>
        <p:nvSpPr>
          <p:cNvPr id="15" name="Rounded Rectangle 14"/>
          <p:cNvSpPr/>
          <p:nvPr/>
        </p:nvSpPr>
        <p:spPr>
          <a:xfrm>
            <a:off x="594360" y="3986783"/>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813816" y="4151375"/>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Database types are not JSON safe</a:t>
            </a:r>
          </a:p>
        </p:txBody>
      </p:sp>
      <p:sp>
        <p:nvSpPr>
          <p:cNvPr id="17" name="TextBox 16"/>
          <p:cNvSpPr txBox="1"/>
          <p:nvPr/>
        </p:nvSpPr>
        <p:spPr>
          <a:xfrm>
            <a:off x="813816" y="4443983"/>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FastAPI JSON encoding before serialisation</a:t>
            </a:r>
          </a:p>
        </p:txBody>
      </p:sp>
      <p:sp>
        <p:nvSpPr>
          <p:cNvPr id="18" name="Rounded Rectangle 17"/>
          <p:cNvSpPr/>
          <p:nvPr/>
        </p:nvSpPr>
        <p:spPr>
          <a:xfrm>
            <a:off x="594360" y="5020056"/>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813816" y="5184648"/>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Limited local GPU memory</a:t>
            </a:r>
          </a:p>
        </p:txBody>
      </p:sp>
      <p:sp>
        <p:nvSpPr>
          <p:cNvPr id="20" name="TextBox 19"/>
          <p:cNvSpPr txBox="1"/>
          <p:nvPr/>
        </p:nvSpPr>
        <p:spPr>
          <a:xfrm>
            <a:off x="813816" y="5477256"/>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Optimised around a 7B code-specialised model</a:t>
            </a:r>
          </a:p>
        </p:txBody>
      </p:sp>
      <p:sp>
        <p:nvSpPr>
          <p:cNvPr id="21" name="Rounded Rectangle 20"/>
          <p:cNvSpPr/>
          <p:nvPr/>
        </p:nvSpPr>
        <p:spPr>
          <a:xfrm>
            <a:off x="6210147" y="1920240"/>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6429603" y="2084832"/>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Earning trust in AI-written SQL</a:t>
            </a:r>
          </a:p>
        </p:txBody>
      </p:sp>
      <p:sp>
        <p:nvSpPr>
          <p:cNvPr id="23" name="TextBox 22"/>
          <p:cNvSpPr txBox="1"/>
          <p:nvPr/>
        </p:nvSpPr>
        <p:spPr>
          <a:xfrm>
            <a:off x="6429603" y="2377440"/>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Show the SQL, retry count and latency</a:t>
            </a:r>
          </a:p>
        </p:txBody>
      </p:sp>
      <p:sp>
        <p:nvSpPr>
          <p:cNvPr id="24" name="Rounded Rectangle 23"/>
          <p:cNvSpPr/>
          <p:nvPr/>
        </p:nvSpPr>
        <p:spPr>
          <a:xfrm>
            <a:off x="6210147" y="2953512"/>
            <a:ext cx="5387187" cy="868680"/>
          </a:xfrm>
          <a:prstGeom prst="roundRect">
            <a:avLst>
              <a:gd name="adj" fmla="val 421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6429603" y="3118104"/>
            <a:ext cx="4948275" cy="237744"/>
          </a:xfrm>
          <a:prstGeom prst="rect">
            <a:avLst/>
          </a:prstGeom>
          <a:noFill/>
          <a:effectLst/>
        </p:spPr>
        <p:txBody>
          <a:bodyPr wrap="square" lIns="0" rIns="0" tIns="0" bIns="0" anchor="t">
            <a:spAutoFit/>
          </a:bodyPr>
          <a:lstStyle/>
          <a:p>
            <a:pPr algn="l"/>
            <a:r>
              <a:rPr sz="1150" b="1">
                <a:solidFill>
                  <a:srgbClr val="0B0F19"/>
                </a:solidFill>
                <a:latin typeface="Calibri"/>
              </a:rPr>
              <a:t>Privacy versus model capability</a:t>
            </a:r>
          </a:p>
        </p:txBody>
      </p:sp>
      <p:sp>
        <p:nvSpPr>
          <p:cNvPr id="26" name="TextBox 25"/>
          <p:cNvSpPr txBox="1"/>
          <p:nvPr/>
        </p:nvSpPr>
        <p:spPr>
          <a:xfrm>
            <a:off x="6429603" y="3410712"/>
            <a:ext cx="4948275" cy="274320"/>
          </a:xfrm>
          <a:prstGeom prst="rect">
            <a:avLst/>
          </a:prstGeom>
          <a:noFill/>
          <a:effectLst/>
        </p:spPr>
        <p:txBody>
          <a:bodyPr wrap="square" lIns="0" rIns="0" tIns="0" bIns="0">
            <a:spAutoFit/>
          </a:bodyPr>
          <a:lstStyle/>
          <a:p>
            <a:r>
              <a:rPr sz="1150" b="1">
                <a:solidFill>
                  <a:srgbClr val="4338CA"/>
                </a:solidFill>
                <a:latin typeface="Calibri"/>
              </a:rPr>
              <a:t>→  </a:t>
            </a:r>
            <a:r>
              <a:rPr sz="1150">
                <a:solidFill>
                  <a:srgbClr val="4B5563"/>
                </a:solidFill>
                <a:latin typeface="Calibri"/>
              </a:rPr>
              <a:t>Local architecture instead of cloud dependency</a:t>
            </a:r>
          </a:p>
        </p:txBody>
      </p:sp>
      <p:sp>
        <p:nvSpPr>
          <p:cNvPr id="27" name="Rounded Rectangle 26"/>
          <p:cNvSpPr/>
          <p:nvPr/>
        </p:nvSpPr>
        <p:spPr>
          <a:xfrm>
            <a:off x="6210147" y="3986784"/>
            <a:ext cx="5387187" cy="1883664"/>
          </a:xfrm>
          <a:prstGeom prst="roundRect">
            <a:avLst>
              <a:gd name="adj" fmla="val 1941"/>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6429603" y="4297680"/>
            <a:ext cx="4948275" cy="1280160"/>
          </a:xfrm>
          <a:prstGeom prst="rect">
            <a:avLst/>
          </a:prstGeom>
          <a:noFill/>
          <a:effectLst/>
        </p:spPr>
        <p:txBody>
          <a:bodyPr wrap="square" lIns="0" rIns="0" tIns="0" bIns="0" anchor="t">
            <a:spAutoFit/>
          </a:bodyPr>
          <a:lstStyle/>
          <a:p>
            <a:pPr algn="l">
              <a:spcAft>
                <a:spcPts val="800"/>
              </a:spcAft>
            </a:pPr>
            <a:r>
              <a:rPr sz="1500" b="1">
                <a:solidFill>
                  <a:srgbClr val="0B0F19"/>
                </a:solidFill>
                <a:latin typeface="Georgia"/>
              </a:rPr>
              <a:t>The dangerous failure is not an error.</a:t>
            </a:r>
          </a:p>
          <a:p>
            <a:pPr algn="l">
              <a:lnSpc>
                <a:spcPct val="110000"/>
              </a:lnSpc>
            </a:pPr>
            <a:r>
              <a:rPr sz="1150" b="0">
                <a:solidFill>
                  <a:srgbClr val="4B5563"/>
                </a:solidFill>
                <a:latin typeface="Calibri"/>
              </a:rPr>
              <a:t>A query can run cleanly and still answer the wrong question. So the SQL stays on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75488"/>
            <a:ext cx="11002975" cy="219456"/>
          </a:xfrm>
          <a:prstGeom prst="rect">
            <a:avLst/>
          </a:prstGeom>
          <a:noFill/>
          <a:effectLst/>
        </p:spPr>
        <p:txBody>
          <a:bodyPr wrap="square" lIns="0" rIns="0" tIns="0" bIns="0" anchor="t">
            <a:spAutoFit/>
          </a:bodyPr>
          <a:lstStyle/>
          <a:p>
            <a:pPr algn="l"/>
            <a:r>
              <a:rPr sz="1000" b="1" spc="200">
                <a:solidFill>
                  <a:srgbClr val="4338CA"/>
                </a:solidFill>
                <a:latin typeface="Calibri"/>
              </a:rPr>
              <a:t>LIMITATIONS &amp; FUTURE SCOPE</a:t>
            </a:r>
          </a:p>
        </p:txBody>
      </p:sp>
      <p:sp>
        <p:nvSpPr>
          <p:cNvPr id="4" name="TextBox 3"/>
          <p:cNvSpPr txBox="1"/>
          <p:nvPr/>
        </p:nvSpPr>
        <p:spPr>
          <a:xfrm>
            <a:off x="594360" y="731520"/>
            <a:ext cx="11002975" cy="621792"/>
          </a:xfrm>
          <a:prstGeom prst="rect">
            <a:avLst/>
          </a:prstGeom>
          <a:noFill/>
          <a:effectLst/>
        </p:spPr>
        <p:txBody>
          <a:bodyPr wrap="square" lIns="0" rIns="0" tIns="0" bIns="0" anchor="t">
            <a:spAutoFit/>
          </a:bodyPr>
          <a:lstStyle/>
          <a:p>
            <a:pPr algn="l"/>
            <a:r>
              <a:rPr sz="3400" b="1">
                <a:solidFill>
                  <a:srgbClr val="0B0F19"/>
                </a:solidFill>
                <a:latin typeface="Georgia"/>
              </a:rPr>
              <a:t>Known limits, and where AskBase goes next</a:t>
            </a:r>
          </a:p>
        </p:txBody>
      </p:sp>
      <p:sp>
        <p:nvSpPr>
          <p:cNvPr id="5" name="TextBox 4"/>
          <p:cNvSpPr txBox="1"/>
          <p:nvPr/>
        </p:nvSpPr>
        <p:spPr>
          <a:xfrm>
            <a:off x="594360" y="6382512"/>
            <a:ext cx="5486400" cy="219456"/>
          </a:xfrm>
          <a:prstGeom prst="rect">
            <a:avLst/>
          </a:prstGeom>
          <a:noFill/>
          <a:effectLst/>
        </p:spPr>
        <p:txBody>
          <a:bodyPr wrap="square" lIns="0" rIns="0" tIns="0" bIns="0" anchor="t">
            <a:spAutoFit/>
          </a:bodyPr>
          <a:lstStyle/>
          <a:p>
            <a:pPr algn="l"/>
            <a:r>
              <a:rPr sz="900" b="0">
                <a:solidFill>
                  <a:srgbClr val="9AA3AF"/>
                </a:solidFill>
                <a:latin typeface="Calibri"/>
              </a:rPr>
              <a:t>AskBase  ·  Harsh Jain  ·  MSc Data Science, NMIMS</a:t>
            </a:r>
          </a:p>
        </p:txBody>
      </p:sp>
      <p:sp>
        <p:nvSpPr>
          <p:cNvPr id="6" name="TextBox 5"/>
          <p:cNvSpPr txBox="1"/>
          <p:nvPr/>
        </p:nvSpPr>
        <p:spPr>
          <a:xfrm>
            <a:off x="10682935" y="6382512"/>
            <a:ext cx="914400" cy="219456"/>
          </a:xfrm>
          <a:prstGeom prst="rect">
            <a:avLst/>
          </a:prstGeom>
          <a:noFill/>
          <a:effectLst/>
        </p:spPr>
        <p:txBody>
          <a:bodyPr wrap="square" lIns="0" rIns="0" tIns="0" bIns="0" anchor="t">
            <a:spAutoFit/>
          </a:bodyPr>
          <a:lstStyle/>
          <a:p>
            <a:pPr algn="r"/>
            <a:r>
              <a:rPr sz="900" b="0">
                <a:solidFill>
                  <a:srgbClr val="9AA3AF"/>
                </a:solidFill>
                <a:latin typeface="Calibri"/>
              </a:rPr>
              <a:t>9</a:t>
            </a:r>
          </a:p>
        </p:txBody>
      </p:sp>
      <p:sp>
        <p:nvSpPr>
          <p:cNvPr id="7" name="Rectangle 6"/>
          <p:cNvSpPr/>
          <p:nvPr/>
        </p:nvSpPr>
        <p:spPr>
          <a:xfrm>
            <a:off x="594360" y="1810512"/>
            <a:ext cx="11002975" cy="12801"/>
          </a:xfrm>
          <a:prstGeom prst="rect">
            <a:avLst/>
          </a:prstGeom>
          <a:solidFill>
            <a:srgbClr val="E4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17904"/>
            <a:ext cx="5138928" cy="219456"/>
          </a:xfrm>
          <a:prstGeom prst="rect">
            <a:avLst/>
          </a:prstGeom>
          <a:noFill/>
          <a:effectLst/>
        </p:spPr>
        <p:txBody>
          <a:bodyPr wrap="square" lIns="0" rIns="0" tIns="0" bIns="0" anchor="t">
            <a:spAutoFit/>
          </a:bodyPr>
          <a:lstStyle/>
          <a:p>
            <a:pPr algn="l"/>
            <a:r>
              <a:rPr sz="950" b="1" spc="150">
                <a:solidFill>
                  <a:srgbClr val="B45309"/>
                </a:solidFill>
                <a:latin typeface="Calibri"/>
              </a:rPr>
              <a:t>CURRENT LIMITATION</a:t>
            </a:r>
          </a:p>
        </p:txBody>
      </p:sp>
      <p:sp>
        <p:nvSpPr>
          <p:cNvPr id="9" name="TextBox 8"/>
          <p:cNvSpPr txBox="1"/>
          <p:nvPr/>
        </p:nvSpPr>
        <p:spPr>
          <a:xfrm>
            <a:off x="6236208" y="1517904"/>
            <a:ext cx="5361127" cy="219456"/>
          </a:xfrm>
          <a:prstGeom prst="rect">
            <a:avLst/>
          </a:prstGeom>
          <a:noFill/>
          <a:effectLst/>
        </p:spPr>
        <p:txBody>
          <a:bodyPr wrap="square" lIns="0" rIns="0" tIns="0" bIns="0" anchor="t">
            <a:spAutoFit/>
          </a:bodyPr>
          <a:lstStyle/>
          <a:p>
            <a:pPr algn="l"/>
            <a:r>
              <a:rPr sz="950" b="1" spc="150">
                <a:solidFill>
                  <a:srgbClr val="4338CA"/>
                </a:solidFill>
                <a:latin typeface="Calibri"/>
              </a:rPr>
              <a:t>ROADMAP</a:t>
            </a:r>
          </a:p>
        </p:txBody>
      </p:sp>
      <p:sp>
        <p:nvSpPr>
          <p:cNvPr id="10" name="Rounded Rectangle 9"/>
          <p:cNvSpPr/>
          <p:nvPr/>
        </p:nvSpPr>
        <p:spPr>
          <a:xfrm>
            <a:off x="594360" y="1993392"/>
            <a:ext cx="5138928" cy="73152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795528" y="2121408"/>
            <a:ext cx="4736592" cy="457200"/>
          </a:xfrm>
          <a:prstGeom prst="rect">
            <a:avLst/>
          </a:prstGeom>
          <a:noFill/>
          <a:effectLst/>
        </p:spPr>
        <p:txBody>
          <a:bodyPr wrap="square" lIns="0" rIns="0" tIns="0" bIns="0" anchor="t">
            <a:spAutoFit/>
          </a:bodyPr>
          <a:lstStyle/>
          <a:p>
            <a:pPr algn="l">
              <a:spcAft>
                <a:spcPts val="100"/>
              </a:spcAft>
            </a:pPr>
            <a:r>
              <a:rPr sz="1250" b="1">
                <a:solidFill>
                  <a:srgbClr val="B45309"/>
                </a:solidFill>
                <a:latin typeface="Calibri"/>
              </a:rPr>
              <a:t>Model Size</a:t>
            </a:r>
          </a:p>
          <a:p>
            <a:pPr algn="l"/>
            <a:r>
              <a:rPr sz="1100" b="0">
                <a:solidFill>
                  <a:srgbClr val="4B5563"/>
                </a:solidFill>
                <a:latin typeface="Calibri"/>
              </a:rPr>
              <a:t>A 7B model trails larger cloud models</a:t>
            </a:r>
          </a:p>
        </p:txBody>
      </p:sp>
      <p:sp>
        <p:nvSpPr>
          <p:cNvPr id="12" name="TextBox 11"/>
          <p:cNvSpPr txBox="1"/>
          <p:nvPr/>
        </p:nvSpPr>
        <p:spPr>
          <a:xfrm>
            <a:off x="5733288" y="1993392"/>
            <a:ext cx="502920" cy="73152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3" name="Rounded Rectangle 12"/>
          <p:cNvSpPr/>
          <p:nvPr/>
        </p:nvSpPr>
        <p:spPr>
          <a:xfrm>
            <a:off x="6236208" y="1993392"/>
            <a:ext cx="5361127"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6437376" y="2121408"/>
            <a:ext cx="4958791"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Larger Local Models</a:t>
            </a:r>
          </a:p>
          <a:p>
            <a:pPr algn="l"/>
            <a:r>
              <a:rPr sz="1100" b="0">
                <a:solidFill>
                  <a:srgbClr val="4B5563"/>
                </a:solidFill>
                <a:latin typeface="Calibri"/>
              </a:rPr>
              <a:t>Better accuracy on stronger hardware</a:t>
            </a:r>
          </a:p>
        </p:txBody>
      </p:sp>
      <p:sp>
        <p:nvSpPr>
          <p:cNvPr id="15" name="Rounded Rectangle 14"/>
          <p:cNvSpPr/>
          <p:nvPr/>
        </p:nvSpPr>
        <p:spPr>
          <a:xfrm>
            <a:off x="594360" y="2871216"/>
            <a:ext cx="5138928" cy="73152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795528" y="2999232"/>
            <a:ext cx="4736592" cy="457200"/>
          </a:xfrm>
          <a:prstGeom prst="rect">
            <a:avLst/>
          </a:prstGeom>
          <a:noFill/>
          <a:effectLst/>
        </p:spPr>
        <p:txBody>
          <a:bodyPr wrap="square" lIns="0" rIns="0" tIns="0" bIns="0" anchor="t">
            <a:spAutoFit/>
          </a:bodyPr>
          <a:lstStyle/>
          <a:p>
            <a:pPr algn="l">
              <a:spcAft>
                <a:spcPts val="100"/>
              </a:spcAft>
            </a:pPr>
            <a:r>
              <a:rPr sz="1250" b="1">
                <a:solidFill>
                  <a:srgbClr val="B45309"/>
                </a:solidFill>
                <a:latin typeface="Calibri"/>
              </a:rPr>
              <a:t>Schema Retrieval Risk</a:t>
            </a:r>
          </a:p>
          <a:p>
            <a:pPr algn="l"/>
            <a:r>
              <a:rPr sz="1100" b="0">
                <a:solidFill>
                  <a:srgbClr val="4B5563"/>
                </a:solidFill>
                <a:latin typeface="Calibri"/>
              </a:rPr>
              <a:t>A relevant table can occasionally be missed</a:t>
            </a:r>
          </a:p>
        </p:txBody>
      </p:sp>
      <p:sp>
        <p:nvSpPr>
          <p:cNvPr id="17" name="TextBox 16"/>
          <p:cNvSpPr txBox="1"/>
          <p:nvPr/>
        </p:nvSpPr>
        <p:spPr>
          <a:xfrm>
            <a:off x="5733288" y="2871216"/>
            <a:ext cx="502920" cy="73152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18" name="Rounded Rectangle 17"/>
          <p:cNvSpPr/>
          <p:nvPr/>
        </p:nvSpPr>
        <p:spPr>
          <a:xfrm>
            <a:off x="6236208" y="2871216"/>
            <a:ext cx="5361127"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6437376" y="2999232"/>
            <a:ext cx="4958791"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Richer Schema Context</a:t>
            </a:r>
          </a:p>
          <a:p>
            <a:pPr algn="l"/>
            <a:r>
              <a:rPr sz="1100" b="0">
                <a:solidFill>
                  <a:srgbClr val="4B5563"/>
                </a:solidFill>
                <a:latin typeface="Calibri"/>
              </a:rPr>
              <a:t>Keys and relationships in the prompt</a:t>
            </a:r>
          </a:p>
        </p:txBody>
      </p:sp>
      <p:sp>
        <p:nvSpPr>
          <p:cNvPr id="20" name="Rounded Rectangle 19"/>
          <p:cNvSpPr/>
          <p:nvPr/>
        </p:nvSpPr>
        <p:spPr>
          <a:xfrm>
            <a:off x="594360" y="3749039"/>
            <a:ext cx="5138928" cy="73152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795528" y="3877055"/>
            <a:ext cx="4736592" cy="457200"/>
          </a:xfrm>
          <a:prstGeom prst="rect">
            <a:avLst/>
          </a:prstGeom>
          <a:noFill/>
          <a:effectLst/>
        </p:spPr>
        <p:txBody>
          <a:bodyPr wrap="square" lIns="0" rIns="0" tIns="0" bIns="0" anchor="t">
            <a:spAutoFit/>
          </a:bodyPr>
          <a:lstStyle/>
          <a:p>
            <a:pPr algn="l">
              <a:spcAft>
                <a:spcPts val="100"/>
              </a:spcAft>
            </a:pPr>
            <a:r>
              <a:rPr sz="1250" b="1">
                <a:solidFill>
                  <a:srgbClr val="B45309"/>
                </a:solidFill>
                <a:latin typeface="Calibri"/>
              </a:rPr>
              <a:t>No Authentication</a:t>
            </a:r>
          </a:p>
          <a:p>
            <a:pPr algn="l"/>
            <a:r>
              <a:rPr sz="1100" b="0">
                <a:solidFill>
                  <a:srgbClr val="4B5563"/>
                </a:solidFill>
                <a:latin typeface="Calibri"/>
              </a:rPr>
              <a:t>Built for localhost or a private network</a:t>
            </a:r>
          </a:p>
        </p:txBody>
      </p:sp>
      <p:sp>
        <p:nvSpPr>
          <p:cNvPr id="22" name="TextBox 21"/>
          <p:cNvSpPr txBox="1"/>
          <p:nvPr/>
        </p:nvSpPr>
        <p:spPr>
          <a:xfrm>
            <a:off x="5733288" y="3749039"/>
            <a:ext cx="502920" cy="73152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3" name="Rounded Rectangle 22"/>
          <p:cNvSpPr/>
          <p:nvPr/>
        </p:nvSpPr>
        <p:spPr>
          <a:xfrm>
            <a:off x="6236208" y="3749039"/>
            <a:ext cx="5361127"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6437376" y="3877055"/>
            <a:ext cx="4958791"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Authentication &amp; RBAC</a:t>
            </a:r>
          </a:p>
          <a:p>
            <a:pPr algn="l"/>
            <a:r>
              <a:rPr sz="1100" b="0">
                <a:solidFill>
                  <a:srgbClr val="4B5563"/>
                </a:solidFill>
                <a:latin typeface="Calibri"/>
              </a:rPr>
              <a:t>Secure multi-user deployment</a:t>
            </a:r>
          </a:p>
        </p:txBody>
      </p:sp>
      <p:sp>
        <p:nvSpPr>
          <p:cNvPr id="25" name="Rounded Rectangle 24"/>
          <p:cNvSpPr/>
          <p:nvPr/>
        </p:nvSpPr>
        <p:spPr>
          <a:xfrm>
            <a:off x="594360" y="4626864"/>
            <a:ext cx="5138928" cy="731520"/>
          </a:xfrm>
          <a:prstGeom prst="roundRect">
            <a:avLst>
              <a:gd name="adj" fmla="val 5000"/>
            </a:avLst>
          </a:prstGeom>
          <a:solidFill>
            <a:srgbClr val="FDF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TextBox 25"/>
          <p:cNvSpPr txBox="1"/>
          <p:nvPr/>
        </p:nvSpPr>
        <p:spPr>
          <a:xfrm>
            <a:off x="795528" y="4754880"/>
            <a:ext cx="4736592" cy="457200"/>
          </a:xfrm>
          <a:prstGeom prst="rect">
            <a:avLst/>
          </a:prstGeom>
          <a:noFill/>
          <a:effectLst/>
        </p:spPr>
        <p:txBody>
          <a:bodyPr wrap="square" lIns="0" rIns="0" tIns="0" bIns="0" anchor="t">
            <a:spAutoFit/>
          </a:bodyPr>
          <a:lstStyle/>
          <a:p>
            <a:pPr algn="l">
              <a:spcAft>
                <a:spcPts val="100"/>
              </a:spcAft>
            </a:pPr>
            <a:r>
              <a:rPr sz="1250" b="1">
                <a:solidFill>
                  <a:srgbClr val="B45309"/>
                </a:solidFill>
                <a:latin typeface="Calibri"/>
              </a:rPr>
              <a:t>Limited Evaluation</a:t>
            </a:r>
          </a:p>
          <a:p>
            <a:pPr algn="l"/>
            <a:r>
              <a:rPr sz="1100" b="0">
                <a:solidFill>
                  <a:srgbClr val="4B5563"/>
                </a:solidFill>
                <a:latin typeface="Calibri"/>
              </a:rPr>
              <a:t>No formal benchmark accuracy yet</a:t>
            </a:r>
          </a:p>
        </p:txBody>
      </p:sp>
      <p:sp>
        <p:nvSpPr>
          <p:cNvPr id="27" name="TextBox 26"/>
          <p:cNvSpPr txBox="1"/>
          <p:nvPr/>
        </p:nvSpPr>
        <p:spPr>
          <a:xfrm>
            <a:off x="5733288" y="4626864"/>
            <a:ext cx="502920" cy="731520"/>
          </a:xfrm>
          <a:prstGeom prst="rect">
            <a:avLst/>
          </a:prstGeom>
          <a:noFill/>
          <a:effectLst/>
        </p:spPr>
        <p:txBody>
          <a:bodyPr wrap="square" lIns="0" rIns="0" tIns="0" bIns="0" anchor="ctr">
            <a:spAutoFit/>
          </a:bodyPr>
          <a:lstStyle/>
          <a:p>
            <a:pPr algn="ctr"/>
            <a:r>
              <a:rPr sz="1300" b="1">
                <a:solidFill>
                  <a:srgbClr val="4338CA"/>
                </a:solidFill>
                <a:latin typeface="Calibri"/>
              </a:rPr>
              <a:t>→</a:t>
            </a:r>
          </a:p>
        </p:txBody>
      </p:sp>
      <p:sp>
        <p:nvSpPr>
          <p:cNvPr id="28" name="Rounded Rectangle 27"/>
          <p:cNvSpPr/>
          <p:nvPr/>
        </p:nvSpPr>
        <p:spPr>
          <a:xfrm>
            <a:off x="6236208" y="4626864"/>
            <a:ext cx="5361127" cy="73152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TextBox 28"/>
          <p:cNvSpPr txBox="1"/>
          <p:nvPr/>
        </p:nvSpPr>
        <p:spPr>
          <a:xfrm>
            <a:off x="6437376" y="4754880"/>
            <a:ext cx="4958791" cy="457200"/>
          </a:xfrm>
          <a:prstGeom prst="rect">
            <a:avLst/>
          </a:prstGeom>
          <a:noFill/>
          <a:effectLst/>
        </p:spPr>
        <p:txBody>
          <a:bodyPr wrap="square" lIns="0" rIns="0" tIns="0" bIns="0" anchor="t">
            <a:spAutoFit/>
          </a:bodyPr>
          <a:lstStyle/>
          <a:p>
            <a:pPr algn="l">
              <a:spcAft>
                <a:spcPts val="100"/>
              </a:spcAft>
            </a:pPr>
            <a:r>
              <a:rPr sz="1250" b="1">
                <a:solidFill>
                  <a:srgbClr val="0B0F19"/>
                </a:solidFill>
                <a:latin typeface="Calibri"/>
              </a:rPr>
              <a:t>Benchmark Evaluation</a:t>
            </a:r>
          </a:p>
          <a:p>
            <a:pPr algn="l"/>
            <a:r>
              <a:rPr sz="1100" b="0">
                <a:solidFill>
                  <a:srgbClr val="4B5563"/>
                </a:solidFill>
                <a:latin typeface="Calibri"/>
              </a:rPr>
              <a:t>Gold-standard Text-to-SQL test set</a:t>
            </a:r>
          </a:p>
        </p:txBody>
      </p:sp>
      <p:sp>
        <p:nvSpPr>
          <p:cNvPr id="30" name="Rounded Rectangle 29"/>
          <p:cNvSpPr/>
          <p:nvPr/>
        </p:nvSpPr>
        <p:spPr>
          <a:xfrm>
            <a:off x="594360" y="5486400"/>
            <a:ext cx="11002975" cy="658368"/>
          </a:xfrm>
          <a:prstGeom prst="roundRect">
            <a:avLst>
              <a:gd name="adj" fmla="val 5555"/>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TextBox 30"/>
          <p:cNvSpPr txBox="1"/>
          <p:nvPr/>
        </p:nvSpPr>
        <p:spPr>
          <a:xfrm>
            <a:off x="594360" y="5614416"/>
            <a:ext cx="11002975" cy="457200"/>
          </a:xfrm>
          <a:prstGeom prst="rect">
            <a:avLst/>
          </a:prstGeom>
          <a:noFill/>
          <a:effectLst/>
        </p:spPr>
        <p:txBody>
          <a:bodyPr wrap="square" lIns="0" rIns="0" tIns="0" bIns="0" anchor="t">
            <a:spAutoFit/>
          </a:bodyPr>
          <a:lstStyle/>
          <a:p>
            <a:pPr algn="ctr">
              <a:spcAft>
                <a:spcPts val="300"/>
              </a:spcAft>
            </a:pPr>
            <a:r>
              <a:rPr sz="1500" b="1">
                <a:solidFill>
                  <a:srgbClr val="0B0F19"/>
                </a:solidFill>
                <a:latin typeface="Georgia"/>
              </a:rPr>
              <a:t>Natural language in.  Private, verifiable insight out.</a:t>
            </a:r>
          </a:p>
          <a:p>
            <a:pPr algn="ctr"/>
            <a:r>
              <a:rPr sz="1000" b="0">
                <a:solidFill>
                  <a:srgbClr val="4338CA"/>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